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39"/>
  </p:notesMasterIdLst>
  <p:sldIdLst>
    <p:sldId id="256" r:id="rId5"/>
    <p:sldId id="257" r:id="rId6"/>
    <p:sldId id="258" r:id="rId7"/>
    <p:sldId id="259" r:id="rId8"/>
    <p:sldId id="260" r:id="rId9"/>
    <p:sldId id="271" r:id="rId10"/>
    <p:sldId id="262" r:id="rId11"/>
    <p:sldId id="270" r:id="rId12"/>
    <p:sldId id="282" r:id="rId13"/>
    <p:sldId id="281" r:id="rId14"/>
    <p:sldId id="280" r:id="rId15"/>
    <p:sldId id="279" r:id="rId16"/>
    <p:sldId id="278" r:id="rId17"/>
    <p:sldId id="277" r:id="rId18"/>
    <p:sldId id="276" r:id="rId19"/>
    <p:sldId id="275" r:id="rId20"/>
    <p:sldId id="274" r:id="rId21"/>
    <p:sldId id="273" r:id="rId22"/>
    <p:sldId id="293" r:id="rId23"/>
    <p:sldId id="292" r:id="rId24"/>
    <p:sldId id="291" r:id="rId25"/>
    <p:sldId id="290" r:id="rId26"/>
    <p:sldId id="289" r:id="rId27"/>
    <p:sldId id="288" r:id="rId28"/>
    <p:sldId id="287" r:id="rId29"/>
    <p:sldId id="286" r:id="rId30"/>
    <p:sldId id="285" r:id="rId31"/>
    <p:sldId id="284" r:id="rId32"/>
    <p:sldId id="300" r:id="rId33"/>
    <p:sldId id="299" r:id="rId34"/>
    <p:sldId id="298" r:id="rId35"/>
    <p:sldId id="297" r:id="rId36"/>
    <p:sldId id="296" r:id="rId37"/>
    <p:sldId id="295" r:id="rId38"/>
  </p:sldIdLst>
  <p:sldSz cx="9144000" cy="5143500" type="screen16x9"/>
  <p:notesSz cx="6858000" cy="9144000"/>
  <p:embeddedFontLst>
    <p:embeddedFont>
      <p:font typeface="Arial Narrow" panose="020B0606020202030204" pitchFamily="34" charset="0"/>
      <p:regular r:id="rId40"/>
      <p:bold r:id="rId41"/>
      <p:italic r:id="rId42"/>
      <p:boldItalic r:id="rId43"/>
    </p:embeddedFont>
    <p:embeddedFont>
      <p:font typeface="Calibri" panose="020F0502020204030204" pitchFamily="34" charset="0"/>
      <p:regular r:id="rId44"/>
      <p:bold r:id="rId45"/>
      <p:italic r:id="rId46"/>
      <p:boldItalic r:id="rId47"/>
    </p:embeddedFont>
    <p:embeddedFont>
      <p:font typeface="Century Gothic" panose="020B0502020202020204" pitchFamily="34" charset="0"/>
      <p:regular r:id="rId48"/>
      <p:bold r:id="rId49"/>
      <p:italic r:id="rId50"/>
      <p:boldItalic r:id="rId51"/>
    </p:embeddedFont>
    <p:embeddedFont>
      <p:font typeface="Roboto" panose="02000000000000000000" pitchFamily="2" charset="0"/>
      <p:regular r:id="rId52"/>
      <p:bold r:id="rId53"/>
      <p:italic r:id="rId54"/>
      <p:boldItalic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6" roundtripDataSignature="AMtx7mgDeO90I8HBaw4//EzmFDUXWtYA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84BD2B-2EAE-4B48-08AC-44E4559FAA6C}" v="34" dt="2022-08-22T18:52:42.0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font" Target="fonts/font11.fntdata"/><Relationship Id="rId55" Type="http://schemas.openxmlformats.org/officeDocument/2006/relationships/font" Target="fonts/font16.fntdata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openxmlformats.org/officeDocument/2006/relationships/font" Target="fonts/font14.fntdata"/><Relationship Id="rId58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microsoft.com/office/2015/10/relationships/revisionInfo" Target="revisionInfo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56" Type="http://customschemas.google.com/relationships/presentationmetadata" Target="metadata"/><Relationship Id="rId8" Type="http://schemas.openxmlformats.org/officeDocument/2006/relationships/slide" Target="slides/slide4.xml"/><Relationship Id="rId51" Type="http://schemas.openxmlformats.org/officeDocument/2006/relationships/font" Target="fonts/font12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7.fntdata"/><Relationship Id="rId59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font" Target="fonts/font2.fntdata"/><Relationship Id="rId54" Type="http://schemas.openxmlformats.org/officeDocument/2006/relationships/font" Target="fonts/font1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10.fntdata"/><Relationship Id="rId57" Type="http://schemas.openxmlformats.org/officeDocument/2006/relationships/presProps" Target="pres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font" Target="fonts/font5.fntdata"/><Relationship Id="rId52" Type="http://schemas.openxmlformats.org/officeDocument/2006/relationships/font" Target="fonts/font13.fntdata"/><Relationship Id="rId6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0a4cd88d6f_0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g10a4cd88d6f_0_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1a3cd0d61f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1a3cd0d61f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1a3cd0d61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g11a3cd0d61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1a3cd0d61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g11a3cd0d61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02748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1a3cd0d61f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11a3cd0d61f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1a3cd0d61f_0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g11a3cd0d61f_0_2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0a4cd88d6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g10a4cd88d6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1a3cd0d61f_0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g11a3cd0d61f_0_2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https://www.youtube.com/watch?v=-WWZebBJ-eU - ---- AWS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https://www.youtube.com/watch?v=K3ngZKF31mc</a:t>
            </a: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0a4cd88d6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g10a4cd88d6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https://www.youtube.com/watch?v=cUhDLoBH80o</a:t>
            </a:r>
          </a:p>
        </p:txBody>
      </p:sp>
    </p:spTree>
    <p:extLst>
      <p:ext uri="{BB962C8B-B14F-4D97-AF65-F5344CB8AC3E}">
        <p14:creationId xmlns:p14="http://schemas.microsoft.com/office/powerpoint/2010/main" val="40813165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1a3cd0d61f_0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g11a3cd0d61f_0_2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https://www.youtube.com/watch?v=-WWZebBJ-eU - ---- AWS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https://www.youtube.com/watch?v=K3ngZKF31mc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https://www.youtube.com/watch?v=cUhDLoBH80o – exemplo top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https://blog.roboflow.com/sagemaker-studio-lab-vs-google-colab/ -- </a:t>
            </a:r>
            <a:r>
              <a:rPr lang="pt-BR" dirty="0" err="1"/>
              <a:t>colab</a:t>
            </a:r>
            <a:r>
              <a:rPr lang="pt-BR" dirty="0"/>
              <a:t> </a:t>
            </a:r>
            <a:r>
              <a:rPr lang="pt-BR" dirty="0" err="1"/>
              <a:t>vs</a:t>
            </a:r>
            <a:r>
              <a:rPr lang="pt-BR" dirty="0"/>
              <a:t> </a:t>
            </a:r>
            <a:r>
              <a:rPr lang="pt-BR" dirty="0" err="1"/>
              <a:t>sagemaker</a:t>
            </a:r>
            <a:endParaRPr lang="pt-B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0a4cd88d6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g10a4cd88d6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1a3cd0d61f_0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g11a3cd0d61f_0_2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https://www.youtube.com/watch?v=-WWZebBJ-eU - ---- AWS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https://www.youtube.com/watch?v=K3ngZKF31mc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https://www.youtube.com/watch?v=cUhDLoBH80o – exemplo top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https://blog.roboflow.com/sagemaker-studio-lab-vs-google-colab/ -- </a:t>
            </a:r>
            <a:r>
              <a:rPr lang="pt-BR" dirty="0" err="1"/>
              <a:t>colab</a:t>
            </a:r>
            <a:r>
              <a:rPr lang="pt-BR" dirty="0"/>
              <a:t> </a:t>
            </a:r>
            <a:r>
              <a:rPr lang="pt-BR" dirty="0" err="1"/>
              <a:t>vs</a:t>
            </a:r>
            <a:r>
              <a:rPr lang="pt-BR" dirty="0"/>
              <a:t> </a:t>
            </a:r>
            <a:r>
              <a:rPr lang="pt-BR" dirty="0" err="1"/>
              <a:t>sagemaker</a:t>
            </a:r>
            <a:endParaRPr lang="pt-BR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109ffa863cd_0_2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g109ffa863cd_0_26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09ffa863cd_0_2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09ffa863cd_0_24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g109ffa863cd_0_24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g109ffa863cd_0_2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9ffa863cd_0_2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g109ffa863cd_0_2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09ffa863cd_0_2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09ffa863cd_0_2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g109ffa863cd_0_2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9ffa863cd_0_26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g109ffa863cd_0_2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D4EC5463-B062-47A7-BE31-A8E7E64D8430}" type="datetime1">
              <a:rPr lang="pt-BR" smtClean="0"/>
              <a:pPr/>
              <a:t>07/11/2022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2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9ffa863cd_0_2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09ffa863cd_0_2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g109ffa863cd_0_240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8127425" y="119987"/>
            <a:ext cx="851525" cy="3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g109ffa863cd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hyperlink" Target="https://www.credential.net/gy7a7rsn" TargetMode="External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hyperlink" Target="https://www.credential.net/gy7a7rsn" TargetMode="External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4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195609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Prof. Dr. Diego Bruno</a:t>
            </a:r>
            <a:endParaRPr sz="16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Education Tech Lead </a:t>
            </a:r>
            <a:r>
              <a:rPr lang="en-US" sz="16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na</a:t>
            </a:r>
            <a:r>
              <a:rPr lang="en-US" sz="16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DIO</a:t>
            </a:r>
            <a:br>
              <a:rPr lang="en-US" sz="16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Doutor</a:t>
            </a:r>
            <a:r>
              <a:rPr lang="en-US" sz="16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em</a:t>
            </a:r>
            <a:r>
              <a:rPr lang="en-US" sz="16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Robótica e </a:t>
            </a:r>
            <a:r>
              <a:rPr lang="en-US" sz="1600" i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Machine Learning </a:t>
            </a:r>
            <a:r>
              <a:rPr lang="en-US" sz="1600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pelo</a:t>
            </a:r>
            <a:r>
              <a:rPr lang="en-US" sz="16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ICMC-USP</a:t>
            </a:r>
            <a:endParaRPr sz="16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2400" b="1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101291"/>
            <a:ext cx="85011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Entendendo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1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Machine Learning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 Amazon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SageMaker</a:t>
            </a:r>
            <a:endParaRPr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t>1</a:t>
            </a:fld>
            <a:r>
              <a:rPr lang="en-US"/>
              <a:t>]</a:t>
            </a:r>
            <a:endParaRPr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3162BC4-565E-80F2-352D-0A94D7824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4155" y="800401"/>
            <a:ext cx="2663748" cy="26637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0a4cd88d6f_0_206"/>
          <p:cNvSpPr/>
          <p:nvPr/>
        </p:nvSpPr>
        <p:spPr>
          <a:xfrm>
            <a:off x="0" y="1490150"/>
            <a:ext cx="8224500" cy="2909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99534"/>
                </a:moveTo>
                <a:cubicBezTo>
                  <a:pt x="17821" y="120000"/>
                  <a:pt x="19688" y="62325"/>
                  <a:pt x="28005" y="62790"/>
                </a:cubicBezTo>
                <a:cubicBezTo>
                  <a:pt x="36322" y="63255"/>
                  <a:pt x="41414" y="85581"/>
                  <a:pt x="52277" y="83720"/>
                </a:cubicBezTo>
                <a:cubicBezTo>
                  <a:pt x="63140" y="81860"/>
                  <a:pt x="63988" y="40930"/>
                  <a:pt x="75190" y="37209"/>
                </a:cubicBezTo>
                <a:cubicBezTo>
                  <a:pt x="86393" y="33488"/>
                  <a:pt x="87538" y="57093"/>
                  <a:pt x="98231" y="55697"/>
                </a:cubicBezTo>
                <a:cubicBezTo>
                  <a:pt x="108925" y="54302"/>
                  <a:pt x="109137" y="9767"/>
                  <a:pt x="120000" y="0"/>
                </a:cubicBezTo>
              </a:path>
            </a:pathLst>
          </a:custGeom>
          <a:noFill/>
          <a:ln w="15875" cap="flat" cmpd="sng">
            <a:solidFill>
              <a:srgbClr val="A5A5A5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44546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6" name="Google Shape;66;g10a4cd88d6f_0_206"/>
          <p:cNvPicPr preferRelativeResize="0"/>
          <p:nvPr/>
        </p:nvPicPr>
        <p:blipFill rotWithShape="1">
          <a:blip r:embed="rId3">
            <a:alphaModFix amt="90000"/>
          </a:blip>
          <a:srcRect t="28303" b="8782"/>
          <a:stretch/>
        </p:blipFill>
        <p:spPr>
          <a:xfrm>
            <a:off x="4599432" y="1545185"/>
            <a:ext cx="816600" cy="651566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g10a4cd88d6f_0_206"/>
          <p:cNvSpPr/>
          <p:nvPr/>
        </p:nvSpPr>
        <p:spPr>
          <a:xfrm>
            <a:off x="3068096" y="3126254"/>
            <a:ext cx="816600" cy="805800"/>
          </a:xfrm>
          <a:prstGeom prst="ellipse">
            <a:avLst/>
          </a:prstGeom>
          <a:solidFill>
            <a:srgbClr val="1155CC"/>
          </a:solidFill>
          <a:ln w="76200" cap="flat" cmpd="sng">
            <a:solidFill>
              <a:srgbClr val="1C45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g10a4cd88d6f_0_206"/>
          <p:cNvSpPr/>
          <p:nvPr/>
        </p:nvSpPr>
        <p:spPr>
          <a:xfrm>
            <a:off x="4623898" y="2025907"/>
            <a:ext cx="816600" cy="805800"/>
          </a:xfrm>
          <a:prstGeom prst="ellipse">
            <a:avLst/>
          </a:prstGeom>
          <a:solidFill>
            <a:srgbClr val="134F5C"/>
          </a:solidFill>
          <a:ln w="76200" cap="flat" cmpd="sng">
            <a:solidFill>
              <a:srgbClr val="0C34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" name="Google Shape;69;g10a4cd88d6f_0_206"/>
          <p:cNvSpPr/>
          <p:nvPr/>
        </p:nvSpPr>
        <p:spPr>
          <a:xfrm>
            <a:off x="6179798" y="2453040"/>
            <a:ext cx="816600" cy="805800"/>
          </a:xfrm>
          <a:prstGeom prst="ellipse">
            <a:avLst/>
          </a:prstGeom>
          <a:solidFill>
            <a:srgbClr val="741B47"/>
          </a:solidFill>
          <a:ln w="76200" cap="flat" cmpd="sng">
            <a:solidFill>
              <a:srgbClr val="4C11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" name="Google Shape;70;g10a4cd88d6f_0_206"/>
          <p:cNvSpPr/>
          <p:nvPr/>
        </p:nvSpPr>
        <p:spPr>
          <a:xfrm>
            <a:off x="1512245" y="2621934"/>
            <a:ext cx="816600" cy="805800"/>
          </a:xfrm>
          <a:prstGeom prst="ellipse">
            <a:avLst/>
          </a:prstGeom>
          <a:solidFill>
            <a:srgbClr val="38761D"/>
          </a:solidFill>
          <a:ln w="76200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1" name="Google Shape;71;g10a4cd88d6f_0_206"/>
          <p:cNvGrpSpPr/>
          <p:nvPr/>
        </p:nvGrpSpPr>
        <p:grpSpPr>
          <a:xfrm>
            <a:off x="7831255" y="1017788"/>
            <a:ext cx="1079236" cy="641350"/>
            <a:chOff x="10452101" y="1779589"/>
            <a:chExt cx="365100" cy="219100"/>
          </a:xfrm>
        </p:grpSpPr>
        <p:sp>
          <p:nvSpPr>
            <p:cNvPr id="72" name="Google Shape;72;g10a4cd88d6f_0_206"/>
            <p:cNvSpPr/>
            <p:nvPr/>
          </p:nvSpPr>
          <p:spPr>
            <a:xfrm>
              <a:off x="10550526" y="1900239"/>
              <a:ext cx="112800" cy="98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5806"/>
                  </a:moveTo>
                  <a:lnTo>
                    <a:pt x="0" y="120000"/>
                  </a:lnTo>
                  <a:lnTo>
                    <a:pt x="23661" y="0"/>
                  </a:lnTo>
                  <a:lnTo>
                    <a:pt x="120000" y="5806"/>
                  </a:ln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spcFirstLastPara="1" wrap="square" lIns="34300" tIns="17150" rIns="34300" bIns="171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1" i="0" u="none" strike="noStrike" cap="none">
                <a:solidFill>
                  <a:srgbClr val="44546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3" name="Google Shape;73;g10a4cd88d6f_0_206"/>
            <p:cNvSpPr/>
            <p:nvPr/>
          </p:nvSpPr>
          <p:spPr>
            <a:xfrm>
              <a:off x="10452101" y="1779589"/>
              <a:ext cx="365100" cy="1890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0" y="26218"/>
                  </a:lnTo>
                  <a:lnTo>
                    <a:pt x="73043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34300" tIns="17150" rIns="34300" bIns="171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1" i="0" u="none" strike="noStrike" cap="none">
                <a:solidFill>
                  <a:srgbClr val="44546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4" name="Google Shape;74;g10a4cd88d6f_0_206"/>
            <p:cNvSpPr/>
            <p:nvPr/>
          </p:nvSpPr>
          <p:spPr>
            <a:xfrm>
              <a:off x="10531476" y="1792289"/>
              <a:ext cx="258900" cy="206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0" y="48000"/>
                  </a:lnTo>
                  <a:lnTo>
                    <a:pt x="8834" y="120000"/>
                  </a:lnTo>
                  <a:lnTo>
                    <a:pt x="19141" y="62769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spcFirstLastPara="1" wrap="square" lIns="34300" tIns="17150" rIns="34300" bIns="171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1" i="0" u="none" strike="noStrike" cap="none">
                <a:solidFill>
                  <a:srgbClr val="44546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75" name="Google Shape;75;g10a4cd88d6f_0_206"/>
          <p:cNvSpPr txBox="1"/>
          <p:nvPr/>
        </p:nvSpPr>
        <p:spPr>
          <a:xfrm>
            <a:off x="1088950" y="3773626"/>
            <a:ext cx="1678800" cy="3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575" tIns="40775" rIns="81575" bIns="4077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469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Graduação em</a:t>
            </a:r>
            <a:r>
              <a:rPr lang="en-US" sz="11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Eletrônica: Modalidade Automação Industrial </a:t>
            </a:r>
            <a:endParaRPr sz="1100" b="1" i="0" u="none" strike="noStrike" cap="none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g10a4cd88d6f_0_206"/>
          <p:cNvSpPr txBox="1"/>
          <p:nvPr/>
        </p:nvSpPr>
        <p:spPr>
          <a:xfrm>
            <a:off x="1088950" y="3536025"/>
            <a:ext cx="16788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Graduação</a:t>
            </a:r>
            <a:endParaRPr sz="1600" b="1" i="0" u="none" strike="noStrike" cap="none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g10a4cd88d6f_0_206"/>
          <p:cNvSpPr txBox="1"/>
          <p:nvPr/>
        </p:nvSpPr>
        <p:spPr>
          <a:xfrm>
            <a:off x="2604425" y="2453050"/>
            <a:ext cx="17439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575" tIns="40775" rIns="81575" bIns="4077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469"/>
              </a:buClr>
              <a:buSzPts val="900"/>
              <a:buFont typeface="Arial"/>
              <a:buNone/>
            </a:pPr>
            <a:r>
              <a:rPr lang="en-US" sz="11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Início da carreira como </a:t>
            </a:r>
            <a:r>
              <a:rPr lang="en-US" sz="1100" b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professor </a:t>
            </a:r>
            <a:r>
              <a:rPr lang="en-US" sz="11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e também do </a:t>
            </a:r>
            <a:r>
              <a:rPr lang="en-US" sz="1100" b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mestrado</a:t>
            </a:r>
            <a:endParaRPr sz="1100" b="1" i="0" u="none" strike="noStrike" cap="none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g10a4cd88d6f_0_206"/>
          <p:cNvSpPr txBox="1"/>
          <p:nvPr/>
        </p:nvSpPr>
        <p:spPr>
          <a:xfrm>
            <a:off x="2675650" y="2184850"/>
            <a:ext cx="16788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Mestrado </a:t>
            </a:r>
            <a:endParaRPr sz="1600" b="1" i="0" u="none" strike="noStrike" cap="none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g10a4cd88d6f_0_206"/>
          <p:cNvSpPr txBox="1"/>
          <p:nvPr/>
        </p:nvSpPr>
        <p:spPr>
          <a:xfrm>
            <a:off x="4192845" y="3143241"/>
            <a:ext cx="16788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575" tIns="40775" rIns="81575" bIns="4077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469"/>
              </a:buClr>
              <a:buSzPts val="900"/>
              <a:buFont typeface="Arial"/>
              <a:buNone/>
            </a:pPr>
            <a:endParaRPr sz="10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0" name="Google Shape;80;g10a4cd88d6f_0_206"/>
          <p:cNvSpPr txBox="1"/>
          <p:nvPr/>
        </p:nvSpPr>
        <p:spPr>
          <a:xfrm>
            <a:off x="4101500" y="3001075"/>
            <a:ext cx="18357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Mestre + Início do Doutorado</a:t>
            </a:r>
            <a:endParaRPr sz="1600" b="1" i="0" u="none" strike="noStrike" cap="none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g10a4cd88d6f_0_206"/>
          <p:cNvSpPr txBox="1"/>
          <p:nvPr/>
        </p:nvSpPr>
        <p:spPr>
          <a:xfrm>
            <a:off x="4101500" y="3346725"/>
            <a:ext cx="18615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575" tIns="40775" rIns="81575" bIns="4077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469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Título </a:t>
            </a:r>
            <a:r>
              <a:rPr lang="en-US" sz="11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de Mestre em Computação: Robótica e </a:t>
            </a:r>
            <a:r>
              <a:rPr lang="en-US" sz="1100" i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endParaRPr sz="1100" b="0" i="1" u="none" strike="noStrike" cap="none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g10a4cd88d6f_0_206"/>
          <p:cNvSpPr txBox="1"/>
          <p:nvPr/>
        </p:nvSpPr>
        <p:spPr>
          <a:xfrm>
            <a:off x="1663197" y="2893642"/>
            <a:ext cx="5145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2012</a:t>
            </a:r>
            <a:endParaRPr sz="1500" b="1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3" name="Google Shape;83;g10a4cd88d6f_0_206"/>
          <p:cNvSpPr txBox="1"/>
          <p:nvPr/>
        </p:nvSpPr>
        <p:spPr>
          <a:xfrm>
            <a:off x="5655825" y="1873600"/>
            <a:ext cx="17439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575" tIns="40775" rIns="81575" bIns="4077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g10a4cd88d6f_0_206"/>
          <p:cNvSpPr txBox="1"/>
          <p:nvPr/>
        </p:nvSpPr>
        <p:spPr>
          <a:xfrm>
            <a:off x="5667249" y="1588950"/>
            <a:ext cx="18417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Doutor</a:t>
            </a:r>
            <a:endParaRPr sz="1600" b="1" i="0" u="none" strike="noStrike" cap="none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g10a4cd88d6f_0_206"/>
          <p:cNvSpPr txBox="1"/>
          <p:nvPr/>
        </p:nvSpPr>
        <p:spPr>
          <a:xfrm>
            <a:off x="3219031" y="3397954"/>
            <a:ext cx="5145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</a:t>
            </a:r>
            <a:r>
              <a:rPr lang="en-US" sz="1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13</a:t>
            </a:r>
            <a:endParaRPr sz="1500" b="1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6" name="Google Shape;86;g10a4cd88d6f_0_206"/>
          <p:cNvSpPr txBox="1"/>
          <p:nvPr/>
        </p:nvSpPr>
        <p:spPr>
          <a:xfrm>
            <a:off x="4774894" y="2297602"/>
            <a:ext cx="5145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2016</a:t>
            </a:r>
            <a:endParaRPr sz="1500" b="1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" name="Google Shape;87;g10a4cd88d6f_0_206"/>
          <p:cNvSpPr txBox="1"/>
          <p:nvPr/>
        </p:nvSpPr>
        <p:spPr>
          <a:xfrm>
            <a:off x="6330729" y="2724769"/>
            <a:ext cx="5145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2020</a:t>
            </a:r>
            <a:endParaRPr sz="1500" b="1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g10a4cd88d6f_0_206"/>
          <p:cNvSpPr txBox="1"/>
          <p:nvPr/>
        </p:nvSpPr>
        <p:spPr>
          <a:xfrm>
            <a:off x="565525" y="636550"/>
            <a:ext cx="3627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Sobre Mim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9" name="Google Shape;89;g10a4cd88d6f_0_206">
            <a:hlinkClick r:id="rId4"/>
          </p:cNvPr>
          <p:cNvSpPr txBox="1"/>
          <p:nvPr/>
        </p:nvSpPr>
        <p:spPr>
          <a:xfrm>
            <a:off x="4802662" y="4529292"/>
            <a:ext cx="2314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4444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10a4cd88d6f_0_20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t>2</a:t>
            </a:fld>
            <a:r>
              <a:rPr lang="en-US"/>
              <a:t>]</a:t>
            </a:r>
            <a:endParaRPr/>
          </a:p>
        </p:txBody>
      </p:sp>
      <p:pic>
        <p:nvPicPr>
          <p:cNvPr id="91" name="Google Shape;91;g10a4cd88d6f_0_20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66243" y="4484548"/>
            <a:ext cx="908407" cy="52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g10a4cd88d6f_0_20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67750" y="3935100"/>
            <a:ext cx="1952155" cy="80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g10a4cd88d6f_0_20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02201" y="4743950"/>
            <a:ext cx="1030000" cy="2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g10a4cd88d6f_0_206"/>
          <p:cNvSpPr txBox="1"/>
          <p:nvPr/>
        </p:nvSpPr>
        <p:spPr>
          <a:xfrm>
            <a:off x="5657225" y="1859413"/>
            <a:ext cx="18615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575" tIns="40775" rIns="81575" bIns="4077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469"/>
              </a:buClr>
              <a:buSzPts val="900"/>
              <a:buFont typeface="Arial"/>
              <a:buNone/>
            </a:pPr>
            <a:r>
              <a:rPr lang="en-US" sz="11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Doutor em Computação: Robótica e </a:t>
            </a:r>
            <a:r>
              <a:rPr lang="en-US" sz="1100" i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r>
              <a:rPr lang="en-US" sz="11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 b="0" i="1" u="none" strike="noStrike" cap="none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g10a4cd88d6f_0_20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94413" y="3357995"/>
            <a:ext cx="1387375" cy="113266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g10a4cd88d6f_0_20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503443" y="3363156"/>
            <a:ext cx="1079225" cy="969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g10a4cd88d6f_0_20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798294" y="404448"/>
            <a:ext cx="1579354" cy="118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g10a4cd88d6f_0_20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446150" y="2339725"/>
            <a:ext cx="1184500" cy="118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g10a4cd88d6f_0_20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309506" y="4323050"/>
            <a:ext cx="1524757" cy="48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1a3cd0d61f_0_7"/>
          <p:cNvSpPr/>
          <p:nvPr/>
        </p:nvSpPr>
        <p:spPr>
          <a:xfrm>
            <a:off x="0" y="1490150"/>
            <a:ext cx="8224500" cy="2909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99534"/>
                </a:moveTo>
                <a:cubicBezTo>
                  <a:pt x="17821" y="120000"/>
                  <a:pt x="19688" y="62325"/>
                  <a:pt x="28005" y="62790"/>
                </a:cubicBezTo>
                <a:cubicBezTo>
                  <a:pt x="36322" y="63255"/>
                  <a:pt x="41414" y="85581"/>
                  <a:pt x="52277" y="83720"/>
                </a:cubicBezTo>
                <a:cubicBezTo>
                  <a:pt x="63140" y="81860"/>
                  <a:pt x="63988" y="40930"/>
                  <a:pt x="75190" y="37209"/>
                </a:cubicBezTo>
                <a:cubicBezTo>
                  <a:pt x="86393" y="33488"/>
                  <a:pt x="87538" y="57093"/>
                  <a:pt x="98231" y="55697"/>
                </a:cubicBezTo>
                <a:cubicBezTo>
                  <a:pt x="108925" y="54302"/>
                  <a:pt x="109137" y="9767"/>
                  <a:pt x="120000" y="0"/>
                </a:cubicBezTo>
              </a:path>
            </a:pathLst>
          </a:custGeom>
          <a:noFill/>
          <a:ln w="15875" cap="flat" cmpd="sng">
            <a:solidFill>
              <a:srgbClr val="A5A5A5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44546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" name="Google Shape;105;g11a3cd0d61f_0_7"/>
          <p:cNvSpPr/>
          <p:nvPr/>
        </p:nvSpPr>
        <p:spPr>
          <a:xfrm>
            <a:off x="6179798" y="2453040"/>
            <a:ext cx="816600" cy="805800"/>
          </a:xfrm>
          <a:prstGeom prst="ellipse">
            <a:avLst/>
          </a:prstGeom>
          <a:solidFill>
            <a:srgbClr val="741B47"/>
          </a:solidFill>
          <a:ln w="76200" cap="flat" cmpd="sng">
            <a:solidFill>
              <a:srgbClr val="4C11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06" name="Google Shape;106;g11a3cd0d61f_0_7"/>
          <p:cNvGrpSpPr/>
          <p:nvPr/>
        </p:nvGrpSpPr>
        <p:grpSpPr>
          <a:xfrm>
            <a:off x="7831244" y="1017784"/>
            <a:ext cx="1079236" cy="641350"/>
            <a:chOff x="10452101" y="1779589"/>
            <a:chExt cx="365100" cy="219100"/>
          </a:xfrm>
        </p:grpSpPr>
        <p:sp>
          <p:nvSpPr>
            <p:cNvPr id="107" name="Google Shape;107;g11a3cd0d61f_0_7"/>
            <p:cNvSpPr/>
            <p:nvPr/>
          </p:nvSpPr>
          <p:spPr>
            <a:xfrm>
              <a:off x="10550526" y="1900239"/>
              <a:ext cx="112800" cy="98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5806"/>
                  </a:moveTo>
                  <a:lnTo>
                    <a:pt x="0" y="120000"/>
                  </a:lnTo>
                  <a:lnTo>
                    <a:pt x="23661" y="0"/>
                  </a:lnTo>
                  <a:lnTo>
                    <a:pt x="120000" y="5806"/>
                  </a:ln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spcFirstLastPara="1" wrap="square" lIns="34300" tIns="17150" rIns="34300" bIns="171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1" i="0" u="none" strike="noStrike" cap="none">
                <a:solidFill>
                  <a:srgbClr val="44546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8" name="Google Shape;108;g11a3cd0d61f_0_7"/>
            <p:cNvSpPr/>
            <p:nvPr/>
          </p:nvSpPr>
          <p:spPr>
            <a:xfrm>
              <a:off x="10452101" y="1779589"/>
              <a:ext cx="365100" cy="1890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0" y="26218"/>
                  </a:lnTo>
                  <a:lnTo>
                    <a:pt x="73043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34300" tIns="17150" rIns="34300" bIns="171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1" i="0" u="none" strike="noStrike" cap="none">
                <a:solidFill>
                  <a:srgbClr val="44546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9" name="Google Shape;109;g11a3cd0d61f_0_7"/>
            <p:cNvSpPr/>
            <p:nvPr/>
          </p:nvSpPr>
          <p:spPr>
            <a:xfrm>
              <a:off x="10531476" y="1792289"/>
              <a:ext cx="258900" cy="206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0" y="48000"/>
                  </a:lnTo>
                  <a:lnTo>
                    <a:pt x="8834" y="120000"/>
                  </a:lnTo>
                  <a:lnTo>
                    <a:pt x="19141" y="62769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spcFirstLastPara="1" wrap="square" lIns="34300" tIns="17150" rIns="34300" bIns="171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1" i="0" u="none" strike="noStrike" cap="none">
                <a:solidFill>
                  <a:srgbClr val="44546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10" name="Google Shape;110;g11a3cd0d61f_0_7"/>
          <p:cNvSpPr txBox="1"/>
          <p:nvPr/>
        </p:nvSpPr>
        <p:spPr>
          <a:xfrm>
            <a:off x="1088950" y="3545026"/>
            <a:ext cx="1678800" cy="3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575" tIns="40775" rIns="81575" bIns="4077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469"/>
              </a:buClr>
              <a:buSzPts val="900"/>
              <a:buFont typeface="Arial"/>
              <a:buNone/>
            </a:pPr>
            <a:r>
              <a:rPr lang="en-US" sz="11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Pós-doutorado em </a:t>
            </a:r>
            <a:r>
              <a:rPr lang="en-US" sz="1100" i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Machine Learning </a:t>
            </a:r>
            <a:r>
              <a:rPr lang="en-US" sz="11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para Veículos Autônomos </a:t>
            </a:r>
            <a:endParaRPr sz="1100" b="1" u="none" strike="noStrike" cap="none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11a3cd0d61f_0_7"/>
          <p:cNvSpPr txBox="1"/>
          <p:nvPr/>
        </p:nvSpPr>
        <p:spPr>
          <a:xfrm>
            <a:off x="1088950" y="3307425"/>
            <a:ext cx="16788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Pós-Doutorado</a:t>
            </a:r>
            <a:endParaRPr sz="1600" b="1" i="0" u="none" strike="noStrike" cap="none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11a3cd0d61f_0_7"/>
          <p:cNvSpPr txBox="1"/>
          <p:nvPr/>
        </p:nvSpPr>
        <p:spPr>
          <a:xfrm>
            <a:off x="2604425" y="2453050"/>
            <a:ext cx="17439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575" tIns="40775" rIns="81575" bIns="4077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469"/>
              </a:buClr>
              <a:buSzPts val="900"/>
              <a:buFont typeface="Arial"/>
              <a:buNone/>
            </a:pPr>
            <a:r>
              <a:rPr lang="en-US" sz="11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Pós-graduação para IoT: Pesquisas em </a:t>
            </a:r>
            <a:r>
              <a:rPr lang="en-US" sz="1100" i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Machine Learning </a:t>
            </a:r>
            <a:endParaRPr sz="1100" i="1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469"/>
              </a:buClr>
              <a:buSzPts val="900"/>
              <a:buFont typeface="Arial"/>
              <a:buNone/>
            </a:pPr>
            <a:r>
              <a:rPr lang="en-US" sz="11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para Robótica</a:t>
            </a:r>
            <a:endParaRPr sz="1100" b="1" u="none" strike="noStrike" cap="none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11a3cd0d61f_0_7"/>
          <p:cNvSpPr txBox="1"/>
          <p:nvPr/>
        </p:nvSpPr>
        <p:spPr>
          <a:xfrm>
            <a:off x="2675650" y="2184850"/>
            <a:ext cx="16788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 Pós-grad em IoT</a:t>
            </a:r>
            <a:endParaRPr sz="1600" b="1" i="0" u="none" strike="noStrike" cap="none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11a3cd0d61f_0_7"/>
          <p:cNvSpPr txBox="1"/>
          <p:nvPr/>
        </p:nvSpPr>
        <p:spPr>
          <a:xfrm>
            <a:off x="4192845" y="3143241"/>
            <a:ext cx="16788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575" tIns="40775" rIns="81575" bIns="4077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469"/>
              </a:buClr>
              <a:buSzPts val="900"/>
              <a:buFont typeface="Arial"/>
              <a:buNone/>
            </a:pPr>
            <a:endParaRPr sz="10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5" name="Google Shape;115;g11a3cd0d61f_0_7"/>
          <p:cNvSpPr txBox="1"/>
          <p:nvPr/>
        </p:nvSpPr>
        <p:spPr>
          <a:xfrm>
            <a:off x="4101500" y="3001075"/>
            <a:ext cx="18357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Editor da IEEE</a:t>
            </a:r>
            <a:endParaRPr sz="1600" b="1" i="0" u="none" strike="noStrike" cap="none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11a3cd0d61f_0_7"/>
          <p:cNvSpPr txBox="1"/>
          <p:nvPr/>
        </p:nvSpPr>
        <p:spPr>
          <a:xfrm>
            <a:off x="4101500" y="3346725"/>
            <a:ext cx="18615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575" tIns="40775" rIns="81575" bIns="4077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469"/>
              </a:buClr>
              <a:buSzPts val="900"/>
              <a:buFont typeface="Arial"/>
              <a:buNone/>
            </a:pPr>
            <a:endParaRPr sz="1100" b="0" i="1" u="none" strike="noStrike" cap="none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11a3cd0d61f_0_7"/>
          <p:cNvSpPr txBox="1"/>
          <p:nvPr/>
        </p:nvSpPr>
        <p:spPr>
          <a:xfrm>
            <a:off x="1663197" y="2893642"/>
            <a:ext cx="5145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1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8" name="Google Shape;118;g11a3cd0d61f_0_7"/>
          <p:cNvSpPr txBox="1"/>
          <p:nvPr/>
        </p:nvSpPr>
        <p:spPr>
          <a:xfrm>
            <a:off x="5655825" y="1873600"/>
            <a:ext cx="17439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575" tIns="40775" rIns="81575" bIns="4077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11a3cd0d61f_0_7"/>
          <p:cNvSpPr txBox="1"/>
          <p:nvPr/>
        </p:nvSpPr>
        <p:spPr>
          <a:xfrm>
            <a:off x="5667124" y="1963900"/>
            <a:ext cx="18417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Professor e Pesquisador</a:t>
            </a:r>
            <a:endParaRPr sz="1600" b="1" i="0" u="none" strike="noStrike" cap="none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11a3cd0d61f_0_7"/>
          <p:cNvSpPr txBox="1"/>
          <p:nvPr/>
        </p:nvSpPr>
        <p:spPr>
          <a:xfrm>
            <a:off x="3219031" y="3397954"/>
            <a:ext cx="5145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</a:t>
            </a:r>
            <a:r>
              <a:rPr lang="en-US" sz="1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13</a:t>
            </a:r>
            <a:endParaRPr sz="1500" b="1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" name="Google Shape;121;g11a3cd0d61f_0_7"/>
          <p:cNvSpPr txBox="1"/>
          <p:nvPr/>
        </p:nvSpPr>
        <p:spPr>
          <a:xfrm>
            <a:off x="4774894" y="2297602"/>
            <a:ext cx="5145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2016</a:t>
            </a:r>
            <a:endParaRPr sz="1500" b="1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2" name="Google Shape;122;g11a3cd0d61f_0_7"/>
          <p:cNvSpPr txBox="1"/>
          <p:nvPr/>
        </p:nvSpPr>
        <p:spPr>
          <a:xfrm>
            <a:off x="6330729" y="2724769"/>
            <a:ext cx="5145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Hoje</a:t>
            </a:r>
            <a:endParaRPr sz="1500" b="1" i="0" u="none" strike="noStrike" cap="non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3" name="Google Shape;123;g11a3cd0d61f_0_7"/>
          <p:cNvSpPr txBox="1"/>
          <p:nvPr/>
        </p:nvSpPr>
        <p:spPr>
          <a:xfrm>
            <a:off x="565525" y="636550"/>
            <a:ext cx="3627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Sobre Mim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4" name="Google Shape;124;g11a3cd0d61f_0_7">
            <a:hlinkClick r:id="rId3"/>
          </p:cNvPr>
          <p:cNvSpPr txBox="1"/>
          <p:nvPr/>
        </p:nvSpPr>
        <p:spPr>
          <a:xfrm>
            <a:off x="4802662" y="4529292"/>
            <a:ext cx="2314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4444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11a3cd0d61f_0_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t>3</a:t>
            </a:fld>
            <a:r>
              <a:rPr lang="en-US"/>
              <a:t>]</a:t>
            </a:r>
            <a:endParaRPr/>
          </a:p>
        </p:txBody>
      </p:sp>
      <p:pic>
        <p:nvPicPr>
          <p:cNvPr id="126" name="Google Shape;126;g11a3cd0d61f_0_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0893" y="4555700"/>
            <a:ext cx="1524757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g11a3cd0d61f_0_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7750" y="4175300"/>
            <a:ext cx="1982396" cy="3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11a3cd0d61f_0_7"/>
          <p:cNvSpPr txBox="1"/>
          <p:nvPr/>
        </p:nvSpPr>
        <p:spPr>
          <a:xfrm>
            <a:off x="114700" y="1431675"/>
            <a:ext cx="3627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1900" b="1">
                <a:solidFill>
                  <a:srgbClr val="00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Atualmente:</a:t>
            </a:r>
            <a:endParaRPr sz="1900" b="1" i="0" u="none" strike="noStrike" cap="none">
              <a:solidFill>
                <a:srgbClr val="0000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9" name="Google Shape;129;g11a3cd0d61f_0_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75638" y="1482810"/>
            <a:ext cx="742225" cy="742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g11a3cd0d61f_0_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17873" y="1585859"/>
            <a:ext cx="683625" cy="568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g11a3cd0d61f_0_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354450" y="3258851"/>
            <a:ext cx="1387350" cy="68674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g11a3cd0d61f_0_7"/>
          <p:cNvSpPr txBox="1"/>
          <p:nvPr/>
        </p:nvSpPr>
        <p:spPr>
          <a:xfrm>
            <a:off x="5871650" y="3358000"/>
            <a:ext cx="17439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575" tIns="40775" rIns="81575" bIns="4077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469"/>
              </a:buClr>
              <a:buSzPts val="900"/>
              <a:buFont typeface="Arial"/>
              <a:buNone/>
            </a:pPr>
            <a:r>
              <a:rPr lang="en-US" sz="11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Education Tech Lead na DIO</a:t>
            </a:r>
            <a:endParaRPr sz="1100" i="1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5469"/>
              </a:buClr>
              <a:buSzPts val="900"/>
              <a:buFont typeface="Arial"/>
              <a:buNone/>
            </a:pPr>
            <a:r>
              <a:rPr lang="en-US" sz="11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Professor da Fatec </a:t>
            </a:r>
            <a:endParaRPr sz="1100" b="1" u="none" strike="noStrike" cap="none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g11a3cd0d61f_0_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886799" y="1962263"/>
            <a:ext cx="1144600" cy="93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g11a3cd0d61f_0_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784789" y="3009551"/>
            <a:ext cx="1144601" cy="658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"/>
          <p:cNvSpPr txBox="1"/>
          <p:nvPr/>
        </p:nvSpPr>
        <p:spPr>
          <a:xfrm>
            <a:off x="468880" y="606814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marR="0" lvl="1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22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Neste curso, você aprenderá as habilidades necessárias para criar, treinar e implantar modelos de </a:t>
            </a:r>
            <a:r>
              <a:rPr lang="pt-BR" sz="2200" b="0" i="1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machine</a:t>
            </a:r>
            <a:r>
              <a:rPr lang="pt-BR" sz="2200" b="0" i="1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200" b="0" i="1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learning</a:t>
            </a:r>
            <a:r>
              <a:rPr lang="pt-BR" sz="2200" b="0" i="1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2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no </a:t>
            </a:r>
            <a:r>
              <a:rPr lang="pt-BR" sz="22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Amazon</a:t>
            </a:r>
            <a:r>
              <a:rPr lang="pt-BR" sz="22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2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SageMaker</a:t>
            </a:r>
            <a:r>
              <a:rPr lang="pt-BR" sz="22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, incluindo implementações em Python e suas bibliotecas para integrá-las aos seus aplicativos para resolver problemas do mundo real.</a:t>
            </a:r>
            <a:endParaRPr sz="22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 txBox="1"/>
          <p:nvPr/>
        </p:nvSpPr>
        <p:spPr>
          <a:xfrm>
            <a:off x="539884" y="450697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Geral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1" name="Google Shape;141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t>4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1a3cd0d61f_0_57"/>
          <p:cNvSpPr txBox="1"/>
          <p:nvPr/>
        </p:nvSpPr>
        <p:spPr>
          <a:xfrm>
            <a:off x="472977" y="336191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2200" dirty="0">
                <a:latin typeface="Calibri" panose="020F0502020204030204" pitchFamily="34" charset="0"/>
              </a:rPr>
              <a:t>Neste curso, p</a:t>
            </a:r>
            <a:r>
              <a:rPr lang="pt-BR" sz="22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rimeiro, você aprenderá o básico e como configurar o </a:t>
            </a:r>
            <a:r>
              <a:rPr lang="pt-BR" sz="2200" b="0" i="1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SageMaker</a:t>
            </a:r>
            <a:r>
              <a:rPr lang="pt-BR" sz="22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 Em seguida, você descobrirá como criar, treinar e implementar modelos aplicados à Classificação de problemas encontrados no mundo real. </a:t>
            </a:r>
            <a:endParaRPr lang="pt-BR" sz="22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11a3cd0d61f_0_57"/>
          <p:cNvSpPr txBox="1"/>
          <p:nvPr/>
        </p:nvSpPr>
        <p:spPr>
          <a:xfrm>
            <a:off x="539884" y="391223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Conteúdo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8" name="Google Shape;148;g11a3cd0d61f_0_5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t>5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1a3cd0d61f_0_57"/>
          <p:cNvSpPr txBox="1"/>
          <p:nvPr/>
        </p:nvSpPr>
        <p:spPr>
          <a:xfrm>
            <a:off x="480411" y="566649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22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Ao concluir este curso, você terá uma compreensão básica do </a:t>
            </a:r>
            <a:r>
              <a:rPr lang="pt-BR" sz="22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Amazon</a:t>
            </a:r>
            <a:r>
              <a:rPr lang="pt-BR" sz="22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2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SageMaker</a:t>
            </a:r>
            <a:r>
              <a:rPr lang="pt-BR" sz="22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que o ajudará imensamente à medida que você avança para criar seus próprios aplicativos habilitados para aprendizado de máquina aplicados a diferentes cenários da vida real.</a:t>
            </a:r>
          </a:p>
        </p:txBody>
      </p:sp>
      <p:sp>
        <p:nvSpPr>
          <p:cNvPr id="147" name="Google Shape;147;g11a3cd0d61f_0_57"/>
          <p:cNvSpPr txBox="1"/>
          <p:nvPr/>
        </p:nvSpPr>
        <p:spPr>
          <a:xfrm>
            <a:off x="539884" y="391223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Competência</a:t>
            </a:r>
            <a:r>
              <a:rPr lang="en-US" sz="40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sz="40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8" name="Google Shape;148;g11a3cd0d61f_0_5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t>6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03025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1a3cd0d61f_0_88"/>
          <p:cNvSpPr txBox="1"/>
          <p:nvPr/>
        </p:nvSpPr>
        <p:spPr>
          <a:xfrm>
            <a:off x="391525" y="255550"/>
            <a:ext cx="85827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000" i="1" dirty="0" err="1">
                <a:solidFill>
                  <a:srgbClr val="00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Machine</a:t>
            </a:r>
            <a:r>
              <a:rPr lang="pt-BR" sz="3000" i="1" dirty="0">
                <a:solidFill>
                  <a:srgbClr val="00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Learning </a:t>
            </a:r>
            <a:r>
              <a:rPr lang="pt-BR" sz="3000" dirty="0">
                <a:solidFill>
                  <a:srgbClr val="00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 </a:t>
            </a:r>
            <a:r>
              <a:rPr lang="pt-BR" sz="3000" i="1" dirty="0" err="1">
                <a:solidFill>
                  <a:srgbClr val="00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SageMaker</a:t>
            </a:r>
            <a:endParaRPr sz="3000" b="0" i="1" u="none" strike="noStrike" cap="none" dirty="0">
              <a:solidFill>
                <a:srgbClr val="0000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5" name="Google Shape;165;g11a3cd0d61f_0_88"/>
          <p:cNvSpPr txBox="1">
            <a:spLocks noGrp="1"/>
          </p:cNvSpPr>
          <p:nvPr>
            <p:ph type="sldNum" idx="12"/>
          </p:nvPr>
        </p:nvSpPr>
        <p:spPr>
          <a:xfrm>
            <a:off x="8556784" y="4292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t>7</a:t>
            </a:fld>
            <a:r>
              <a:rPr lang="en-US"/>
              <a:t>]</a:t>
            </a:r>
            <a:endParaRPr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51F90C4-40B0-88C4-32CE-ED40269C58E2}"/>
              </a:ext>
            </a:extLst>
          </p:cNvPr>
          <p:cNvSpPr txBox="1"/>
          <p:nvPr/>
        </p:nvSpPr>
        <p:spPr>
          <a:xfrm>
            <a:off x="483220" y="1003610"/>
            <a:ext cx="7040136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pt-BR" sz="2200" b="1" i="0" dirty="0"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Aula 01 </a:t>
            </a:r>
            <a:r>
              <a:rPr lang="pt-BR" sz="2200" b="0" i="0" dirty="0"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– Introdução para </a:t>
            </a:r>
            <a:r>
              <a:rPr lang="pt-BR" sz="2200" dirty="0">
                <a:latin typeface="Arial Narrow" panose="020B0606020202030204" pitchFamily="34" charset="0"/>
              </a:rPr>
              <a:t>o </a:t>
            </a:r>
            <a:r>
              <a:rPr lang="pt-BR" sz="2200" i="1" dirty="0" err="1">
                <a:latin typeface="Arial Narrow" panose="020B0606020202030204" pitchFamily="34" charset="0"/>
              </a:rPr>
              <a:t>SageMaker</a:t>
            </a:r>
            <a:endParaRPr lang="pt-BR" sz="2200" b="0" i="1" dirty="0">
              <a:solidFill>
                <a:srgbClr val="000000"/>
              </a:solidFill>
              <a:effectLst/>
              <a:latin typeface="Arial Narrow" panose="020B0606020202030204" pitchFamily="34" charset="0"/>
            </a:endParaRPr>
          </a:p>
          <a:p>
            <a:pPr algn="l" rtl="0" fontAlgn="base"/>
            <a:r>
              <a:rPr lang="pt-BR" sz="2200" b="1" i="0" dirty="0"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Aula 02 </a:t>
            </a:r>
            <a:r>
              <a:rPr lang="pt-BR" sz="2200" b="0" i="0" dirty="0"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– Ferramentas aplicadas no </a:t>
            </a:r>
            <a:r>
              <a:rPr lang="pt-BR" sz="2200" b="0" i="1" dirty="0" err="1"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SageMaker</a:t>
            </a:r>
            <a:endParaRPr lang="pt-BR" sz="2200" b="0" i="1" dirty="0">
              <a:solidFill>
                <a:srgbClr val="000000"/>
              </a:solidFill>
              <a:effectLst/>
              <a:latin typeface="Arial Narrow" panose="020B0606020202030204" pitchFamily="34" charset="0"/>
            </a:endParaRPr>
          </a:p>
          <a:p>
            <a:pPr algn="l" rtl="0" fontAlgn="base"/>
            <a:r>
              <a:rPr lang="pt-BR" sz="2200" b="1" i="0" dirty="0"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Aula 03 </a:t>
            </a:r>
            <a:r>
              <a:rPr lang="pt-BR" sz="2200" b="0" i="0" dirty="0"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– Criando uma conta na AWS</a:t>
            </a:r>
          </a:p>
          <a:p>
            <a:pPr algn="l" rtl="0" fontAlgn="base"/>
            <a:r>
              <a:rPr lang="pt-BR" sz="2200" b="1" i="0" dirty="0"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Aula 04 </a:t>
            </a:r>
            <a:r>
              <a:rPr lang="pt-BR" sz="2200" b="0" i="0" dirty="0"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– Modelos de </a:t>
            </a:r>
            <a:r>
              <a:rPr lang="pt-BR" sz="2200" b="0" i="0" dirty="0" err="1"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Machine</a:t>
            </a:r>
            <a:r>
              <a:rPr lang="pt-BR" sz="2200" b="0" i="0" dirty="0"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 Learning </a:t>
            </a:r>
          </a:p>
          <a:p>
            <a:pPr algn="l" rtl="0" fontAlgn="base"/>
            <a:r>
              <a:rPr lang="pt-BR" sz="2200" b="1" i="0" dirty="0"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Aula 05 </a:t>
            </a:r>
            <a:r>
              <a:rPr lang="pt-BR" sz="2200" b="0" i="0" dirty="0"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– Biblioteca Pandas e suas funções </a:t>
            </a:r>
          </a:p>
          <a:p>
            <a:pPr algn="l" rtl="0" fontAlgn="base"/>
            <a:r>
              <a:rPr lang="pt-BR" sz="2200" b="1" i="0" dirty="0"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Aula 06 </a:t>
            </a:r>
            <a:r>
              <a:rPr lang="pt-BR" sz="2200" b="0" i="0" dirty="0"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– AWS </a:t>
            </a:r>
            <a:r>
              <a:rPr lang="pt-BR" sz="2200" b="0" i="1" dirty="0" err="1"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SageMaker</a:t>
            </a:r>
            <a:r>
              <a:rPr lang="pt-BR" sz="2200" b="0" i="1" dirty="0"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 x Google </a:t>
            </a:r>
            <a:r>
              <a:rPr lang="pt-BR" sz="2200" b="0" i="1" dirty="0" err="1"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Colab</a:t>
            </a:r>
            <a:endParaRPr lang="pt-BR" sz="2200" b="0" i="1" dirty="0">
              <a:solidFill>
                <a:srgbClr val="000000"/>
              </a:solidFill>
              <a:effectLst/>
              <a:latin typeface="Arial Narrow" panose="020B0606020202030204" pitchFamily="34" charset="0"/>
            </a:endParaRPr>
          </a:p>
          <a:p>
            <a:pPr algn="l" rtl="0" fontAlgn="base"/>
            <a:r>
              <a:rPr lang="pt-BR" sz="2200" b="1" i="0" dirty="0"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Aula 07 </a:t>
            </a:r>
            <a:r>
              <a:rPr lang="pt-BR" sz="2200" b="0" i="0" dirty="0"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– Desenvolvendo seu Primeiro Sistema no </a:t>
            </a:r>
            <a:r>
              <a:rPr lang="pt-BR" sz="2200" b="0" i="0" dirty="0" err="1">
                <a:solidFill>
                  <a:srgbClr val="000000"/>
                </a:solidFill>
                <a:effectLst/>
                <a:latin typeface="Arial Narrow" panose="020B0606020202030204" pitchFamily="34" charset="0"/>
              </a:rPr>
              <a:t>SageMaker</a:t>
            </a:r>
            <a:endParaRPr lang="pt-BR" sz="2200" b="0" i="0" dirty="0">
              <a:solidFill>
                <a:srgbClr val="000000"/>
              </a:solidFill>
              <a:effectLst/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1a3cd0d61f_0_227"/>
          <p:cNvSpPr txBox="1"/>
          <p:nvPr/>
        </p:nvSpPr>
        <p:spPr>
          <a:xfrm>
            <a:off x="1162075" y="234820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Prof. Dr. Diego Bruno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g11a3cd0d61f_0_227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5500" b="0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Obrigado!</a:t>
            </a:r>
            <a:endParaRPr sz="5500" b="0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09" name="Google Shape;309;g11a3cd0d61f_0_2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g11a3cd0d61f_0_22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t>8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  <p:pic>
        <p:nvPicPr>
          <p:cNvPr id="311" name="Google Shape;311;g11a3cd0d61f_0_2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9225" y="2500600"/>
            <a:ext cx="2608200" cy="260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35788" y="2975519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Prof. Dr. Diego Bruno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Education Tech Lead </a:t>
            </a:r>
            <a:r>
              <a:rPr lang="en-US" sz="16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na</a:t>
            </a: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DIO</a:t>
            </a:r>
            <a:b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Doutor em Robótica e </a:t>
            </a:r>
            <a:r>
              <a:rPr lang="en-US" sz="1600" i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Machine Learning </a:t>
            </a:r>
            <a:r>
              <a:rPr lang="en-US" sz="16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pelo</a:t>
            </a: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ICMC-USP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305328" y="400718"/>
            <a:ext cx="6117773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200" b="1" u="none" strike="noStrike" cap="none">
                <a:solidFill>
                  <a:srgbClr val="FF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Introdução</a:t>
            </a:r>
            <a:r>
              <a:rPr lang="en-US" sz="4200" b="1" u="none" strike="noStrike" cap="none" dirty="0">
                <a:solidFill>
                  <a:srgbClr val="FF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 </a:t>
            </a:r>
            <a:r>
              <a:rPr lang="pt-BR" sz="4200" b="1" u="none" strike="noStrike" cap="none" dirty="0">
                <a:solidFill>
                  <a:srgbClr val="FF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ao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200" b="1" dirty="0" err="1">
                <a:solidFill>
                  <a:srgbClr val="FF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SageMaker</a:t>
            </a:r>
            <a:r>
              <a:rPr lang="pt-BR" sz="4200" b="1" dirty="0">
                <a:solidFill>
                  <a:srgbClr val="FF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 AWS</a:t>
            </a:r>
            <a:endParaRPr sz="4200" b="1" u="none" strike="noStrike" cap="none" dirty="0">
              <a:solidFill>
                <a:srgbClr val="FF0000"/>
              </a:solidFill>
              <a:latin typeface="Century Gothic" panose="020B0502020202020204" pitchFamily="34" charset="0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t>9</a:t>
            </a:fld>
            <a:r>
              <a:rPr lang="en-US"/>
              <a:t>]</a:t>
            </a:r>
            <a:endParaRPr/>
          </a:p>
        </p:txBody>
      </p:sp>
      <p:pic>
        <p:nvPicPr>
          <p:cNvPr id="1028" name="Picture 4" descr="Machine Learning with Amazon SageMaker » Nub8">
            <a:extLst>
              <a:ext uri="{FF2B5EF4-FFF2-40B4-BE49-F238E27FC236}">
                <a16:creationId xmlns:a16="http://schemas.microsoft.com/office/drawing/2014/main" id="{1C24600F-D132-0DA0-63E8-EFEA6D3854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6276" y="2841773"/>
            <a:ext cx="2648879" cy="1128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mazon SageMaker Immersion Day">
            <a:extLst>
              <a:ext uri="{FF2B5EF4-FFF2-40B4-BE49-F238E27FC236}">
                <a16:creationId xmlns:a16="http://schemas.microsoft.com/office/drawing/2014/main" id="{FD6E5CF6-043C-A607-05CE-4B1D7C76B0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4297" y="556732"/>
            <a:ext cx="2472839" cy="2472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7395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0a4cd88d6f_0_57"/>
          <p:cNvSpPr txBox="1"/>
          <p:nvPr/>
        </p:nvSpPr>
        <p:spPr>
          <a:xfrm>
            <a:off x="496977" y="1853829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Prof. Dr. Diego Bruno</a:t>
            </a:r>
            <a:endParaRPr sz="24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10a4cd88d6f_0_57"/>
          <p:cNvSpPr txBox="1"/>
          <p:nvPr/>
        </p:nvSpPr>
        <p:spPr>
          <a:xfrm>
            <a:off x="590574" y="1002115"/>
            <a:ext cx="8698206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6000" b="1" dirty="0" err="1">
                <a:solidFill>
                  <a:srgbClr val="FF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SageMaker</a:t>
            </a:r>
            <a:r>
              <a:rPr lang="pt-BR" sz="6000" b="1" dirty="0">
                <a:solidFill>
                  <a:srgbClr val="FF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 AWS</a:t>
            </a:r>
            <a:endParaRPr lang="pt-BR" sz="6000" b="1" u="none" strike="noStrike" cap="none" dirty="0">
              <a:solidFill>
                <a:srgbClr val="FF0000"/>
              </a:solidFill>
              <a:latin typeface="Century Gothic" panose="020B0502020202020204" pitchFamily="34" charset="0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55" name="Google Shape;155;g10a4cd88d6f_0_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10a4cd88d6f_0_5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t>10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  <p:pic>
        <p:nvPicPr>
          <p:cNvPr id="2050" name="Picture 2" descr="Amazon SageMaker 现在可支持其他实例类型、本地模式、开源容器、MXNet 和Tensorflow 更新| 亚马逊AWS官方博客">
            <a:extLst>
              <a:ext uri="{FF2B5EF4-FFF2-40B4-BE49-F238E27FC236}">
                <a16:creationId xmlns:a16="http://schemas.microsoft.com/office/drawing/2014/main" id="{2A200C9B-7866-C2EC-CC41-6BB542585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589" y="2013448"/>
            <a:ext cx="2381250" cy="242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3859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79" y="349534"/>
            <a:ext cx="7872410" cy="549038"/>
          </a:xfrm>
        </p:spPr>
        <p:txBody>
          <a:bodyPr>
            <a:noAutofit/>
          </a:bodyPr>
          <a:lstStyle/>
          <a:p>
            <a:br>
              <a:rPr lang="pt-BR" sz="2200" dirty="0">
                <a:solidFill>
                  <a:srgbClr val="FF0000"/>
                </a:solidFill>
                <a:latin typeface="Arial Narrow" pitchFamily="34" charset="0"/>
              </a:rPr>
            </a:br>
            <a:br>
              <a:rPr lang="pt-BR" sz="2200" dirty="0">
                <a:solidFill>
                  <a:srgbClr val="FF0000"/>
                </a:solidFill>
                <a:latin typeface="Arial Narrow" pitchFamily="34" charset="0"/>
              </a:rPr>
            </a:br>
            <a:r>
              <a:rPr lang="pt-BR" sz="1800" dirty="0">
                <a:solidFill>
                  <a:schemeClr val="tx1"/>
                </a:solidFill>
                <a:latin typeface="Arial Narrow" pitchFamily="34" charset="0"/>
              </a:rPr>
              <a:t>O </a:t>
            </a:r>
            <a:r>
              <a:rPr lang="pt-BR" sz="1800" dirty="0" err="1">
                <a:solidFill>
                  <a:schemeClr val="tx1"/>
                </a:solidFill>
                <a:latin typeface="Arial Narrow" pitchFamily="34" charset="0"/>
              </a:rPr>
              <a:t>Amazon</a:t>
            </a:r>
            <a:r>
              <a:rPr lang="pt-BR" sz="1800" dirty="0">
                <a:solidFill>
                  <a:schemeClr val="tx1"/>
                </a:solidFill>
                <a:latin typeface="Arial Narrow" pitchFamily="34" charset="0"/>
              </a:rPr>
              <a:t> </a:t>
            </a:r>
            <a:r>
              <a:rPr lang="pt-BR" sz="1800" b="1" i="1" dirty="0" err="1">
                <a:solidFill>
                  <a:schemeClr val="tx1"/>
                </a:solidFill>
                <a:latin typeface="Arial Narrow" pitchFamily="34" charset="0"/>
              </a:rPr>
              <a:t>SageMaker</a:t>
            </a:r>
            <a:r>
              <a:rPr lang="pt-BR" sz="1800" dirty="0">
                <a:solidFill>
                  <a:schemeClr val="tx1"/>
                </a:solidFill>
                <a:latin typeface="Arial Narrow" pitchFamily="34" charset="0"/>
              </a:rPr>
              <a:t> é uma plataforma de aprendizado de máquina na nuvem lançada em novembro de 2017. O </a:t>
            </a:r>
            <a:r>
              <a:rPr lang="pt-BR" sz="1800" i="1" dirty="0" err="1">
                <a:solidFill>
                  <a:schemeClr val="tx1"/>
                </a:solidFill>
                <a:latin typeface="Arial Narrow" pitchFamily="34" charset="0"/>
              </a:rPr>
              <a:t>SageMaker</a:t>
            </a:r>
            <a:r>
              <a:rPr lang="pt-BR" sz="1800" dirty="0">
                <a:solidFill>
                  <a:schemeClr val="tx1"/>
                </a:solidFill>
                <a:latin typeface="Arial Narrow" pitchFamily="34" charset="0"/>
              </a:rPr>
              <a:t> permite que os desenvolvedores criem, treinem e implantem modelos de aprendizado de máquina na nuvem.</a:t>
            </a:r>
            <a:endParaRPr lang="pt-BR" sz="1800" b="1" i="1" dirty="0">
              <a:solidFill>
                <a:schemeClr val="tx1"/>
              </a:solidFill>
              <a:latin typeface="Arial Narrow" pitchFamily="34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11</a:t>
            </a:fld>
            <a:endParaRPr lang="pt-BR"/>
          </a:p>
        </p:txBody>
      </p:sp>
      <p:sp>
        <p:nvSpPr>
          <p:cNvPr id="4" name="AutoShape 2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307975" y="59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AutoShape 8" descr="Resultado de imagem para robo png"/>
          <p:cNvSpPr>
            <a:spLocks noChangeAspect="1" noChangeArrowheads="1"/>
          </p:cNvSpPr>
          <p:nvPr/>
        </p:nvSpPr>
        <p:spPr bwMode="auto">
          <a:xfrm>
            <a:off x="460375" y="1202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10" descr="Resultado de imagem para robo png"/>
          <p:cNvSpPr>
            <a:spLocks noChangeAspect="1" noChangeArrowheads="1"/>
          </p:cNvSpPr>
          <p:nvPr/>
        </p:nvSpPr>
        <p:spPr bwMode="auto">
          <a:xfrm>
            <a:off x="612775" y="2345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AutoShape 12" descr="Resultado de imagem para robo png"/>
          <p:cNvSpPr>
            <a:spLocks noChangeAspect="1" noChangeArrowheads="1"/>
          </p:cNvSpPr>
          <p:nvPr/>
        </p:nvSpPr>
        <p:spPr bwMode="auto">
          <a:xfrm>
            <a:off x="765175" y="3488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2" descr="blob:https://web.whatsapp.com/2e92c05e-036e-4518-bae6-2898470d3e0f"/>
          <p:cNvSpPr>
            <a:spLocks noChangeAspect="1" noChangeArrowheads="1"/>
          </p:cNvSpPr>
          <p:nvPr/>
        </p:nvSpPr>
        <p:spPr bwMode="auto">
          <a:xfrm>
            <a:off x="917575" y="4631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Google Shape;58;p2"/>
          <p:cNvSpPr txBox="1"/>
          <p:nvPr/>
        </p:nvSpPr>
        <p:spPr>
          <a:xfrm>
            <a:off x="277090" y="289560"/>
            <a:ext cx="8224009" cy="706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é </a:t>
            </a:r>
            <a:r>
              <a:rPr lang="pt-BR" sz="36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SageMaker</a:t>
            </a: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  <a:endParaRPr sz="36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24DF754-B939-5F30-7DC3-F5A77D98B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73" y="2140859"/>
            <a:ext cx="3751094" cy="2587780"/>
          </a:xfrm>
          <a:prstGeom prst="rect">
            <a:avLst/>
          </a:prstGeom>
        </p:spPr>
      </p:pic>
      <p:pic>
        <p:nvPicPr>
          <p:cNvPr id="14" name="Picture 2" descr="Amazon SageMaker 现在可支持其他实例类型、本地模式、开源容器、MXNet 和Tensorflow 更新| 亚马逊AWS官方博客">
            <a:extLst>
              <a:ext uri="{FF2B5EF4-FFF2-40B4-BE49-F238E27FC236}">
                <a16:creationId xmlns:a16="http://schemas.microsoft.com/office/drawing/2014/main" id="{6BFAF47D-EA1E-4F13-3086-32A9775EA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8799" y="2140859"/>
            <a:ext cx="2381250" cy="242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58023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79" y="349534"/>
            <a:ext cx="7872410" cy="549038"/>
          </a:xfrm>
        </p:spPr>
        <p:txBody>
          <a:bodyPr>
            <a:noAutofit/>
          </a:bodyPr>
          <a:lstStyle/>
          <a:p>
            <a:br>
              <a:rPr lang="pt-BR" sz="2200" dirty="0">
                <a:solidFill>
                  <a:srgbClr val="FF0000"/>
                </a:solidFill>
                <a:latin typeface="Arial Narrow" pitchFamily="34" charset="0"/>
              </a:rPr>
            </a:br>
            <a:br>
              <a:rPr lang="pt-BR" sz="1800" dirty="0">
                <a:solidFill>
                  <a:srgbClr val="FF0000"/>
                </a:solidFill>
                <a:latin typeface="Arial Narrow" pitchFamily="34" charset="0"/>
              </a:rPr>
            </a:br>
            <a:r>
              <a:rPr lang="pt-BR" sz="1800" b="0" i="0" dirty="0">
                <a:solidFill>
                  <a:srgbClr val="202122"/>
                </a:solidFill>
                <a:effectLst/>
                <a:latin typeface="Arial Narrow" panose="020B0606020202030204" pitchFamily="34" charset="0"/>
              </a:rPr>
              <a:t>O </a:t>
            </a:r>
            <a:r>
              <a:rPr lang="pt-BR" sz="1800" b="1" i="1" dirty="0" err="1">
                <a:solidFill>
                  <a:srgbClr val="202122"/>
                </a:solidFill>
                <a:effectLst/>
                <a:latin typeface="Arial Narrow" panose="020B0606020202030204" pitchFamily="34" charset="0"/>
              </a:rPr>
              <a:t>SageMaker</a:t>
            </a:r>
            <a:r>
              <a:rPr lang="pt-BR" sz="1800" b="0" i="0" dirty="0">
                <a:solidFill>
                  <a:srgbClr val="202122"/>
                </a:solidFill>
                <a:effectLst/>
                <a:latin typeface="Arial Narrow" panose="020B0606020202030204" pitchFamily="34" charset="0"/>
              </a:rPr>
              <a:t> permite que os desenvolvedores operem em vários níveis de abstração ao treinar e implantar modelos de aprendizado de máquina. Em seu nível mais alto de abstração, o </a:t>
            </a:r>
            <a:r>
              <a:rPr lang="pt-BR" sz="1800" b="1" i="1" dirty="0" err="1">
                <a:solidFill>
                  <a:srgbClr val="202122"/>
                </a:solidFill>
                <a:effectLst/>
                <a:latin typeface="Arial Narrow" panose="020B0606020202030204" pitchFamily="34" charset="0"/>
              </a:rPr>
              <a:t>SageMaker</a:t>
            </a:r>
            <a:r>
              <a:rPr lang="pt-BR" sz="1800" b="0" i="0" dirty="0">
                <a:solidFill>
                  <a:srgbClr val="202122"/>
                </a:solidFill>
                <a:effectLst/>
                <a:latin typeface="Arial Narrow" panose="020B0606020202030204" pitchFamily="34" charset="0"/>
              </a:rPr>
              <a:t> fornece modelos de ML </a:t>
            </a:r>
            <a:r>
              <a:rPr lang="pt-BR" sz="1800" b="0" i="0" dirty="0" err="1">
                <a:solidFill>
                  <a:srgbClr val="202122"/>
                </a:solidFill>
                <a:effectLst/>
                <a:latin typeface="Arial Narrow" panose="020B0606020202030204" pitchFamily="34" charset="0"/>
              </a:rPr>
              <a:t>pré</a:t>
            </a:r>
            <a:r>
              <a:rPr lang="pt-BR" sz="1800" b="0" i="0" dirty="0">
                <a:solidFill>
                  <a:srgbClr val="202122"/>
                </a:solidFill>
                <a:effectLst/>
                <a:latin typeface="Arial Narrow" panose="020B0606020202030204" pitchFamily="34" charset="0"/>
              </a:rPr>
              <a:t>-treinados que podem ser implantados como estão.</a:t>
            </a:r>
            <a:endParaRPr lang="pt-BR" sz="1800" b="1" i="1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12</a:t>
            </a:fld>
            <a:endParaRPr lang="pt-BR"/>
          </a:p>
        </p:txBody>
      </p:sp>
      <p:sp>
        <p:nvSpPr>
          <p:cNvPr id="4" name="AutoShape 2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307975" y="59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AutoShape 8" descr="Resultado de imagem para robo png"/>
          <p:cNvSpPr>
            <a:spLocks noChangeAspect="1" noChangeArrowheads="1"/>
          </p:cNvSpPr>
          <p:nvPr/>
        </p:nvSpPr>
        <p:spPr bwMode="auto">
          <a:xfrm>
            <a:off x="460375" y="1202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10" descr="Resultado de imagem para robo png"/>
          <p:cNvSpPr>
            <a:spLocks noChangeAspect="1" noChangeArrowheads="1"/>
          </p:cNvSpPr>
          <p:nvPr/>
        </p:nvSpPr>
        <p:spPr bwMode="auto">
          <a:xfrm>
            <a:off x="612775" y="2345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AutoShape 12" descr="Resultado de imagem para robo png"/>
          <p:cNvSpPr>
            <a:spLocks noChangeAspect="1" noChangeArrowheads="1"/>
          </p:cNvSpPr>
          <p:nvPr/>
        </p:nvSpPr>
        <p:spPr bwMode="auto">
          <a:xfrm>
            <a:off x="765175" y="3488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2" descr="blob:https://web.whatsapp.com/2e92c05e-036e-4518-bae6-2898470d3e0f"/>
          <p:cNvSpPr>
            <a:spLocks noChangeAspect="1" noChangeArrowheads="1"/>
          </p:cNvSpPr>
          <p:nvPr/>
        </p:nvSpPr>
        <p:spPr bwMode="auto">
          <a:xfrm>
            <a:off x="917575" y="4631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Google Shape;58;p2"/>
          <p:cNvSpPr txBox="1"/>
          <p:nvPr/>
        </p:nvSpPr>
        <p:spPr>
          <a:xfrm>
            <a:off x="277090" y="289560"/>
            <a:ext cx="8224009" cy="706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é </a:t>
            </a:r>
            <a:r>
              <a:rPr lang="pt-BR" sz="36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SageMaker</a:t>
            </a: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  <a:endParaRPr sz="36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074" name="Picture 2" descr="Deep learning - Free electronics icons">
            <a:extLst>
              <a:ext uri="{FF2B5EF4-FFF2-40B4-BE49-F238E27FC236}">
                <a16:creationId xmlns:a16="http://schemas.microsoft.com/office/drawing/2014/main" id="{26816A47-E8E8-7F31-CE25-72642E790D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270" y="2382335"/>
            <a:ext cx="2564316" cy="2564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Learning - Free education icons">
            <a:extLst>
              <a:ext uri="{FF2B5EF4-FFF2-40B4-BE49-F238E27FC236}">
                <a16:creationId xmlns:a16="http://schemas.microsoft.com/office/drawing/2014/main" id="{EB9C4473-416A-1A5E-D3AF-46023B780C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9853" y="2481073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7916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79" y="349534"/>
            <a:ext cx="7872410" cy="549038"/>
          </a:xfrm>
        </p:spPr>
        <p:txBody>
          <a:bodyPr>
            <a:noAutofit/>
          </a:bodyPr>
          <a:lstStyle/>
          <a:p>
            <a:br>
              <a:rPr lang="pt-BR" sz="2200" dirty="0">
                <a:solidFill>
                  <a:srgbClr val="FF0000"/>
                </a:solidFill>
                <a:latin typeface="Arial Narrow" pitchFamily="34" charset="0"/>
              </a:rPr>
            </a:br>
            <a:br>
              <a:rPr lang="pt-BR" sz="1800" dirty="0">
                <a:solidFill>
                  <a:srgbClr val="FF0000"/>
                </a:solidFill>
                <a:latin typeface="Arial Narrow" pitchFamily="34" charset="0"/>
              </a:rPr>
            </a:br>
            <a:r>
              <a:rPr lang="pt-BR" sz="1800" b="0" i="0" dirty="0">
                <a:solidFill>
                  <a:srgbClr val="202122"/>
                </a:solidFill>
                <a:effectLst/>
                <a:latin typeface="Arial Narrow" panose="020B0606020202030204" pitchFamily="34" charset="0"/>
              </a:rPr>
              <a:t>Além disso, o </a:t>
            </a:r>
            <a:r>
              <a:rPr lang="pt-BR" sz="1800" b="1" i="1" dirty="0" err="1">
                <a:solidFill>
                  <a:srgbClr val="202122"/>
                </a:solidFill>
                <a:effectLst/>
                <a:latin typeface="Arial Narrow" panose="020B0606020202030204" pitchFamily="34" charset="0"/>
              </a:rPr>
              <a:t>SageMaker</a:t>
            </a:r>
            <a:r>
              <a:rPr lang="pt-BR" sz="1800" b="0" i="0" dirty="0">
                <a:solidFill>
                  <a:srgbClr val="202122"/>
                </a:solidFill>
                <a:effectLst/>
                <a:latin typeface="Arial Narrow" panose="020B0606020202030204" pitchFamily="34" charset="0"/>
              </a:rPr>
              <a:t> fornece vários algoritmos de ML integrados que os desenvolvedores podem treinar em seus próprios dados. Além disso, o </a:t>
            </a:r>
            <a:r>
              <a:rPr lang="pt-BR" sz="1800" b="1" i="1" dirty="0" err="1">
                <a:solidFill>
                  <a:srgbClr val="202122"/>
                </a:solidFill>
                <a:effectLst/>
                <a:latin typeface="Arial Narrow" panose="020B0606020202030204" pitchFamily="34" charset="0"/>
              </a:rPr>
              <a:t>SageMaker</a:t>
            </a:r>
            <a:r>
              <a:rPr lang="pt-BR" sz="1800" b="0" i="0" dirty="0">
                <a:solidFill>
                  <a:srgbClr val="202122"/>
                </a:solidFill>
                <a:effectLst/>
                <a:latin typeface="Arial Narrow" panose="020B0606020202030204" pitchFamily="34" charset="0"/>
              </a:rPr>
              <a:t> fornece instâncias gerenciadas do </a:t>
            </a:r>
            <a:r>
              <a:rPr lang="pt-BR" sz="1800" b="1" i="1" dirty="0">
                <a:solidFill>
                  <a:srgbClr val="0070C0"/>
                </a:solidFill>
                <a:effectLst/>
                <a:latin typeface="Arial Narrow" panose="020B0606020202030204" pitchFamily="34" charset="0"/>
              </a:rPr>
              <a:t>TensorFlow</a:t>
            </a:r>
            <a:r>
              <a:rPr lang="pt-BR" sz="1800" b="0" i="0" dirty="0">
                <a:solidFill>
                  <a:srgbClr val="202122"/>
                </a:solidFill>
                <a:effectLst/>
                <a:latin typeface="Arial Narrow" panose="020B0606020202030204" pitchFamily="34" charset="0"/>
              </a:rPr>
              <a:t> e do </a:t>
            </a:r>
            <a:r>
              <a:rPr lang="pt-BR" sz="1800" b="1" i="1" dirty="0" err="1">
                <a:solidFill>
                  <a:srgbClr val="0070C0"/>
                </a:solidFill>
                <a:effectLst/>
                <a:latin typeface="Arial Narrow" panose="020B0606020202030204" pitchFamily="34" charset="0"/>
              </a:rPr>
              <a:t>Pytorch</a:t>
            </a:r>
            <a:r>
              <a:rPr lang="pt-BR" sz="1800" b="0" i="0" dirty="0">
                <a:solidFill>
                  <a:srgbClr val="202122"/>
                </a:solidFill>
                <a:effectLst/>
                <a:latin typeface="Arial Narrow" panose="020B0606020202030204" pitchFamily="34" charset="0"/>
              </a:rPr>
              <a:t>, onde os desenvolvedores podem criar seus próprios algoritmos de ML do zero.</a:t>
            </a:r>
            <a:endParaRPr lang="pt-BR" sz="1800" b="1" i="1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13</a:t>
            </a:fld>
            <a:endParaRPr lang="pt-BR"/>
          </a:p>
        </p:txBody>
      </p:sp>
      <p:sp>
        <p:nvSpPr>
          <p:cNvPr id="4" name="AutoShape 2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307975" y="59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AutoShape 8" descr="Resultado de imagem para robo png"/>
          <p:cNvSpPr>
            <a:spLocks noChangeAspect="1" noChangeArrowheads="1"/>
          </p:cNvSpPr>
          <p:nvPr/>
        </p:nvSpPr>
        <p:spPr bwMode="auto">
          <a:xfrm>
            <a:off x="460375" y="1202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10" descr="Resultado de imagem para robo png"/>
          <p:cNvSpPr>
            <a:spLocks noChangeAspect="1" noChangeArrowheads="1"/>
          </p:cNvSpPr>
          <p:nvPr/>
        </p:nvSpPr>
        <p:spPr bwMode="auto">
          <a:xfrm>
            <a:off x="612775" y="2345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AutoShape 12" descr="Resultado de imagem para robo png"/>
          <p:cNvSpPr>
            <a:spLocks noChangeAspect="1" noChangeArrowheads="1"/>
          </p:cNvSpPr>
          <p:nvPr/>
        </p:nvSpPr>
        <p:spPr bwMode="auto">
          <a:xfrm>
            <a:off x="765175" y="3488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2" descr="blob:https://web.whatsapp.com/2e92c05e-036e-4518-bae6-2898470d3e0f"/>
          <p:cNvSpPr>
            <a:spLocks noChangeAspect="1" noChangeArrowheads="1"/>
          </p:cNvSpPr>
          <p:nvPr/>
        </p:nvSpPr>
        <p:spPr bwMode="auto">
          <a:xfrm>
            <a:off x="917575" y="4631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Google Shape;58;p2"/>
          <p:cNvSpPr txBox="1"/>
          <p:nvPr/>
        </p:nvSpPr>
        <p:spPr>
          <a:xfrm>
            <a:off x="277090" y="289560"/>
            <a:ext cx="8224009" cy="706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é </a:t>
            </a:r>
            <a:r>
              <a:rPr lang="pt-BR" sz="36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SageMaker</a:t>
            </a: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  <a:endParaRPr sz="36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6146" name="Picture 2" descr="Tensorflow Logo PNG Vector (SVG) Free Download">
            <a:extLst>
              <a:ext uri="{FF2B5EF4-FFF2-40B4-BE49-F238E27FC236}">
                <a16:creationId xmlns:a16="http://schemas.microsoft.com/office/drawing/2014/main" id="{AFF02CDC-93F7-65C8-B3B9-444D5CBAC7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2504123"/>
            <a:ext cx="2857500" cy="193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O que é o PyTorch ? - Tempo de Inovação: Tecnologia a seu alcance">
            <a:extLst>
              <a:ext uri="{FF2B5EF4-FFF2-40B4-BE49-F238E27FC236}">
                <a16:creationId xmlns:a16="http://schemas.microsoft.com/office/drawing/2014/main" id="{F504E91A-10E5-83FE-D27A-7B0330B884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2840" y="2530793"/>
            <a:ext cx="4053840" cy="2114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38093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79" y="349534"/>
            <a:ext cx="7872410" cy="549038"/>
          </a:xfrm>
        </p:spPr>
        <p:txBody>
          <a:bodyPr>
            <a:noAutofit/>
          </a:bodyPr>
          <a:lstStyle/>
          <a:p>
            <a:br>
              <a:rPr lang="pt-BR" sz="2200" dirty="0">
                <a:solidFill>
                  <a:srgbClr val="FF0000"/>
                </a:solidFill>
                <a:latin typeface="Arial Narrow" pitchFamily="34" charset="0"/>
              </a:rPr>
            </a:br>
            <a:br>
              <a:rPr lang="pt-BR" sz="1800" dirty="0">
                <a:solidFill>
                  <a:srgbClr val="FF0000"/>
                </a:solidFill>
                <a:latin typeface="Arial Narrow" pitchFamily="34" charset="0"/>
              </a:rPr>
            </a:br>
            <a:r>
              <a:rPr lang="pt-BR" sz="1800" dirty="0">
                <a:solidFill>
                  <a:schemeClr val="tx1"/>
                </a:solidFill>
                <a:latin typeface="Arial Narrow" pitchFamily="34" charset="0"/>
              </a:rPr>
              <a:t>Independentemente do nível de abstração usado, um desenvolvedor pode conectar seus modelos de ML habilitados para </a:t>
            </a:r>
            <a:r>
              <a:rPr lang="pt-BR" sz="1800" b="1" i="1" dirty="0" err="1">
                <a:solidFill>
                  <a:schemeClr val="tx1"/>
                </a:solidFill>
                <a:latin typeface="Arial Narrow" pitchFamily="34" charset="0"/>
              </a:rPr>
              <a:t>SageMaker</a:t>
            </a:r>
            <a:r>
              <a:rPr lang="pt-BR" sz="1800" dirty="0">
                <a:solidFill>
                  <a:schemeClr val="tx1"/>
                </a:solidFill>
                <a:latin typeface="Arial Narrow" pitchFamily="34" charset="0"/>
              </a:rPr>
              <a:t> a outros serviços da AWS , como o </a:t>
            </a:r>
            <a:r>
              <a:rPr lang="pt-BR" sz="1800" b="1" i="1" dirty="0" err="1">
                <a:solidFill>
                  <a:srgbClr val="0070C0"/>
                </a:solidFill>
                <a:latin typeface="Arial Narrow" pitchFamily="34" charset="0"/>
              </a:rPr>
              <a:t>Amazon</a:t>
            </a:r>
            <a:r>
              <a:rPr lang="pt-BR" sz="1800" b="1" i="1" dirty="0">
                <a:solidFill>
                  <a:srgbClr val="0070C0"/>
                </a:solidFill>
                <a:latin typeface="Arial Narrow" pitchFamily="34" charset="0"/>
              </a:rPr>
              <a:t> </a:t>
            </a:r>
            <a:r>
              <a:rPr lang="pt-BR" sz="1800" b="1" i="1" dirty="0" err="1">
                <a:solidFill>
                  <a:srgbClr val="0070C0"/>
                </a:solidFill>
                <a:latin typeface="Arial Narrow" pitchFamily="34" charset="0"/>
              </a:rPr>
              <a:t>Dynamo</a:t>
            </a:r>
            <a:r>
              <a:rPr lang="pt-BR" sz="1800" b="1" i="1" dirty="0">
                <a:solidFill>
                  <a:srgbClr val="0070C0"/>
                </a:solidFill>
                <a:latin typeface="Arial Narrow" pitchFamily="34" charset="0"/>
              </a:rPr>
              <a:t> </a:t>
            </a:r>
            <a:r>
              <a:rPr lang="pt-BR" sz="1800" b="1" i="1" dirty="0" err="1">
                <a:solidFill>
                  <a:srgbClr val="0070C0"/>
                </a:solidFill>
                <a:latin typeface="Arial Narrow" pitchFamily="34" charset="0"/>
              </a:rPr>
              <a:t>DBbanco</a:t>
            </a:r>
            <a:r>
              <a:rPr lang="pt-BR" sz="1800" b="1" i="1" dirty="0">
                <a:solidFill>
                  <a:srgbClr val="0070C0"/>
                </a:solidFill>
                <a:latin typeface="Arial Narrow" pitchFamily="34" charset="0"/>
              </a:rPr>
              <a:t> </a:t>
            </a:r>
            <a:r>
              <a:rPr lang="pt-BR" sz="1800" dirty="0">
                <a:solidFill>
                  <a:schemeClr val="tx1"/>
                </a:solidFill>
                <a:latin typeface="Arial Narrow" pitchFamily="34" charset="0"/>
              </a:rPr>
              <a:t>de dados para armazenamento de dados estruturados, </a:t>
            </a:r>
            <a:r>
              <a:rPr lang="pt-BR" sz="1800" b="1" i="1" dirty="0">
                <a:solidFill>
                  <a:srgbClr val="0070C0"/>
                </a:solidFill>
                <a:latin typeface="Arial Narrow" pitchFamily="34" charset="0"/>
              </a:rPr>
              <a:t>AWS Batch </a:t>
            </a:r>
            <a:r>
              <a:rPr lang="pt-BR" sz="1800" dirty="0">
                <a:solidFill>
                  <a:schemeClr val="tx1"/>
                </a:solidFill>
                <a:latin typeface="Arial Narrow" pitchFamily="34" charset="0"/>
              </a:rPr>
              <a:t>para processamento </a:t>
            </a:r>
            <a:r>
              <a:rPr lang="pt-BR" sz="1800" i="1" dirty="0">
                <a:solidFill>
                  <a:schemeClr val="tx1"/>
                </a:solidFill>
                <a:latin typeface="Arial Narrow" pitchFamily="34" charset="0"/>
              </a:rPr>
              <a:t>offline</a:t>
            </a:r>
            <a:r>
              <a:rPr lang="pt-BR" sz="1800" dirty="0">
                <a:solidFill>
                  <a:schemeClr val="tx1"/>
                </a:solidFill>
                <a:latin typeface="Arial Narrow" pitchFamily="34" charset="0"/>
              </a:rPr>
              <a:t> em lote, ou </a:t>
            </a:r>
            <a:r>
              <a:rPr lang="pt-BR" sz="1800" b="1" dirty="0" err="1">
                <a:solidFill>
                  <a:schemeClr val="tx1"/>
                </a:solidFill>
                <a:latin typeface="Arial Narrow" pitchFamily="34" charset="0"/>
              </a:rPr>
              <a:t>Amazon</a:t>
            </a:r>
            <a:r>
              <a:rPr lang="pt-BR" sz="1800" b="1" dirty="0">
                <a:solidFill>
                  <a:schemeClr val="tx1"/>
                </a:solidFill>
                <a:latin typeface="Arial Narrow" pitchFamily="34" charset="0"/>
              </a:rPr>
              <a:t> </a:t>
            </a:r>
            <a:r>
              <a:rPr lang="pt-BR" sz="1800" b="1" dirty="0" err="1">
                <a:solidFill>
                  <a:schemeClr val="tx1"/>
                </a:solidFill>
                <a:latin typeface="Arial Narrow" pitchFamily="34" charset="0"/>
              </a:rPr>
              <a:t>Kinesis</a:t>
            </a:r>
            <a:r>
              <a:rPr lang="pt-BR" sz="1800" b="1" dirty="0">
                <a:solidFill>
                  <a:schemeClr val="tx1"/>
                </a:solidFill>
                <a:latin typeface="Arial Narrow" pitchFamily="34" charset="0"/>
              </a:rPr>
              <a:t> </a:t>
            </a:r>
            <a:r>
              <a:rPr lang="pt-BR" sz="1800" dirty="0">
                <a:solidFill>
                  <a:schemeClr val="tx1"/>
                </a:solidFill>
                <a:latin typeface="Arial Narrow" pitchFamily="34" charset="0"/>
              </a:rPr>
              <a:t>para processamento em tempo real.</a:t>
            </a:r>
            <a:endParaRPr lang="pt-BR" sz="1800" b="1" i="1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14</a:t>
            </a:fld>
            <a:endParaRPr lang="pt-BR"/>
          </a:p>
        </p:txBody>
      </p:sp>
      <p:sp>
        <p:nvSpPr>
          <p:cNvPr id="4" name="AutoShape 2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307975" y="59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AutoShape 8" descr="Resultado de imagem para robo png"/>
          <p:cNvSpPr>
            <a:spLocks noChangeAspect="1" noChangeArrowheads="1"/>
          </p:cNvSpPr>
          <p:nvPr/>
        </p:nvSpPr>
        <p:spPr bwMode="auto">
          <a:xfrm>
            <a:off x="460375" y="1202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10" descr="Resultado de imagem para robo png"/>
          <p:cNvSpPr>
            <a:spLocks noChangeAspect="1" noChangeArrowheads="1"/>
          </p:cNvSpPr>
          <p:nvPr/>
        </p:nvSpPr>
        <p:spPr bwMode="auto">
          <a:xfrm>
            <a:off x="612775" y="2345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AutoShape 12" descr="Resultado de imagem para robo png"/>
          <p:cNvSpPr>
            <a:spLocks noChangeAspect="1" noChangeArrowheads="1"/>
          </p:cNvSpPr>
          <p:nvPr/>
        </p:nvSpPr>
        <p:spPr bwMode="auto">
          <a:xfrm>
            <a:off x="765175" y="3488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2" descr="blob:https://web.whatsapp.com/2e92c05e-036e-4518-bae6-2898470d3e0f"/>
          <p:cNvSpPr>
            <a:spLocks noChangeAspect="1" noChangeArrowheads="1"/>
          </p:cNvSpPr>
          <p:nvPr/>
        </p:nvSpPr>
        <p:spPr bwMode="auto">
          <a:xfrm>
            <a:off x="917575" y="4631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Google Shape;58;p2"/>
          <p:cNvSpPr txBox="1"/>
          <p:nvPr/>
        </p:nvSpPr>
        <p:spPr>
          <a:xfrm>
            <a:off x="277090" y="289560"/>
            <a:ext cx="8224009" cy="706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é </a:t>
            </a:r>
            <a:r>
              <a:rPr lang="pt-BR" sz="36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SageMaker</a:t>
            </a: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  <a:endParaRPr sz="36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7170" name="Picture 2" descr="DynamoDB! O que você precisa saber antes de usar! | by Vinicius Roberto |  Medium">
            <a:extLst>
              <a:ext uri="{FF2B5EF4-FFF2-40B4-BE49-F238E27FC236}">
                <a16:creationId xmlns:a16="http://schemas.microsoft.com/office/drawing/2014/main" id="{CEE8A0EA-C741-9AB1-8263-DAEA8D1447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179" y="2571750"/>
            <a:ext cx="3456710" cy="1481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Aws batch: Features and benefits - Online Interview...">
            <a:extLst>
              <a:ext uri="{FF2B5EF4-FFF2-40B4-BE49-F238E27FC236}">
                <a16:creationId xmlns:a16="http://schemas.microsoft.com/office/drawing/2014/main" id="{4E728AC8-57A5-606A-757D-85E962225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9889" y="2143274"/>
            <a:ext cx="3614221" cy="2710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34088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79" y="349534"/>
            <a:ext cx="7872410" cy="549038"/>
          </a:xfrm>
        </p:spPr>
        <p:txBody>
          <a:bodyPr>
            <a:noAutofit/>
          </a:bodyPr>
          <a:lstStyle/>
          <a:p>
            <a:br>
              <a:rPr lang="pt-BR" sz="2200" dirty="0">
                <a:solidFill>
                  <a:srgbClr val="FF0000"/>
                </a:solidFill>
                <a:latin typeface="Arial Narrow" pitchFamily="34" charset="0"/>
              </a:rPr>
            </a:br>
            <a:br>
              <a:rPr lang="pt-BR" sz="1800" dirty="0">
                <a:solidFill>
                  <a:srgbClr val="FF0000"/>
                </a:solidFill>
                <a:latin typeface="Arial Narrow" pitchFamily="34" charset="0"/>
              </a:rPr>
            </a:br>
            <a:r>
              <a:rPr lang="pt-BR" sz="1800" dirty="0">
                <a:solidFill>
                  <a:schemeClr val="tx1"/>
                </a:solidFill>
                <a:latin typeface="Arial Narrow" pitchFamily="34" charset="0"/>
              </a:rPr>
              <a:t>Várias interfaces estão disponíveis para os desenvolvedores interagirem com o </a:t>
            </a:r>
            <a:r>
              <a:rPr lang="pt-BR" sz="1800" b="1" i="1" dirty="0" err="1">
                <a:solidFill>
                  <a:schemeClr val="tx1"/>
                </a:solidFill>
                <a:latin typeface="Arial Narrow" pitchFamily="34" charset="0"/>
              </a:rPr>
              <a:t>SageMaker</a:t>
            </a:r>
            <a:r>
              <a:rPr lang="pt-BR" sz="1800" dirty="0">
                <a:solidFill>
                  <a:schemeClr val="tx1"/>
                </a:solidFill>
                <a:latin typeface="Arial Narrow" pitchFamily="34" charset="0"/>
              </a:rPr>
              <a:t>. Primeiro, há uma API da Web que controla remotamente uma instância do servidor </a:t>
            </a:r>
            <a:r>
              <a:rPr lang="pt-BR" sz="1800" b="1" i="1" dirty="0" err="1">
                <a:solidFill>
                  <a:schemeClr val="tx1"/>
                </a:solidFill>
                <a:latin typeface="Arial Narrow" pitchFamily="34" charset="0"/>
              </a:rPr>
              <a:t>SageMaker</a:t>
            </a:r>
            <a:r>
              <a:rPr lang="pt-BR" sz="1800" dirty="0">
                <a:solidFill>
                  <a:schemeClr val="tx1"/>
                </a:solidFill>
                <a:latin typeface="Arial Narrow" pitchFamily="34" charset="0"/>
              </a:rPr>
              <a:t>. </a:t>
            </a:r>
            <a:br>
              <a:rPr lang="pt-BR" sz="1800" dirty="0">
                <a:solidFill>
                  <a:schemeClr val="tx1"/>
                </a:solidFill>
                <a:latin typeface="Arial Narrow" pitchFamily="34" charset="0"/>
              </a:rPr>
            </a:br>
            <a:br>
              <a:rPr lang="pt-BR" sz="1800" dirty="0">
                <a:solidFill>
                  <a:schemeClr val="tx1"/>
                </a:solidFill>
                <a:latin typeface="Arial Narrow" pitchFamily="34" charset="0"/>
              </a:rPr>
            </a:br>
            <a:r>
              <a:rPr lang="pt-BR" sz="1800" dirty="0">
                <a:solidFill>
                  <a:schemeClr val="tx1"/>
                </a:solidFill>
                <a:latin typeface="Arial Narrow" pitchFamily="34" charset="0"/>
              </a:rPr>
              <a:t>Embora a API da Web seja independente da linguagem de programação usada pelo desenvolvedor, a </a:t>
            </a:r>
            <a:r>
              <a:rPr lang="pt-BR" sz="1800" b="1" i="1" dirty="0" err="1">
                <a:solidFill>
                  <a:schemeClr val="tx1"/>
                </a:solidFill>
                <a:latin typeface="Arial Narrow" pitchFamily="34" charset="0"/>
              </a:rPr>
              <a:t>Amazon</a:t>
            </a:r>
            <a:r>
              <a:rPr lang="pt-BR" sz="1800" dirty="0">
                <a:solidFill>
                  <a:schemeClr val="tx1"/>
                </a:solidFill>
                <a:latin typeface="Arial Narrow" pitchFamily="34" charset="0"/>
              </a:rPr>
              <a:t> fornece associações de API do </a:t>
            </a:r>
            <a:r>
              <a:rPr lang="pt-BR" sz="1800" dirty="0" err="1">
                <a:solidFill>
                  <a:schemeClr val="tx1"/>
                </a:solidFill>
                <a:latin typeface="Arial Narrow" pitchFamily="34" charset="0"/>
              </a:rPr>
              <a:t>SageMaker</a:t>
            </a:r>
            <a:r>
              <a:rPr lang="pt-BR" sz="1800" dirty="0">
                <a:solidFill>
                  <a:schemeClr val="tx1"/>
                </a:solidFill>
                <a:latin typeface="Arial Narrow" pitchFamily="34" charset="0"/>
              </a:rPr>
              <a:t> para várias linguagens, incluindo </a:t>
            </a:r>
            <a:r>
              <a:rPr lang="pt-BR" sz="1800" b="1" dirty="0">
                <a:solidFill>
                  <a:srgbClr val="0070C0"/>
                </a:solidFill>
                <a:latin typeface="Arial Narrow" pitchFamily="34" charset="0"/>
              </a:rPr>
              <a:t>Python , </a:t>
            </a:r>
            <a:r>
              <a:rPr lang="pt-BR" sz="1800" b="1" dirty="0" err="1">
                <a:solidFill>
                  <a:srgbClr val="0070C0"/>
                </a:solidFill>
                <a:latin typeface="Arial Narrow" pitchFamily="34" charset="0"/>
              </a:rPr>
              <a:t>JavaScript</a:t>
            </a:r>
            <a:r>
              <a:rPr lang="pt-BR" sz="1800" b="1" dirty="0">
                <a:solidFill>
                  <a:srgbClr val="0070C0"/>
                </a:solidFill>
                <a:latin typeface="Arial Narrow" pitchFamily="34" charset="0"/>
              </a:rPr>
              <a:t> , Ruby , Java e Go.</a:t>
            </a:r>
            <a:endParaRPr lang="pt-BR" sz="1800" b="1" i="1" dirty="0">
              <a:solidFill>
                <a:srgbClr val="0070C0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15</a:t>
            </a:fld>
            <a:endParaRPr lang="pt-BR"/>
          </a:p>
        </p:txBody>
      </p:sp>
      <p:sp>
        <p:nvSpPr>
          <p:cNvPr id="4" name="AutoShape 2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307975" y="59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AutoShape 8" descr="Resultado de imagem para robo png"/>
          <p:cNvSpPr>
            <a:spLocks noChangeAspect="1" noChangeArrowheads="1"/>
          </p:cNvSpPr>
          <p:nvPr/>
        </p:nvSpPr>
        <p:spPr bwMode="auto">
          <a:xfrm>
            <a:off x="460375" y="1202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10" descr="Resultado de imagem para robo png"/>
          <p:cNvSpPr>
            <a:spLocks noChangeAspect="1" noChangeArrowheads="1"/>
          </p:cNvSpPr>
          <p:nvPr/>
        </p:nvSpPr>
        <p:spPr bwMode="auto">
          <a:xfrm>
            <a:off x="612775" y="2345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AutoShape 12" descr="Resultado de imagem para robo png"/>
          <p:cNvSpPr>
            <a:spLocks noChangeAspect="1" noChangeArrowheads="1"/>
          </p:cNvSpPr>
          <p:nvPr/>
        </p:nvSpPr>
        <p:spPr bwMode="auto">
          <a:xfrm>
            <a:off x="765175" y="3488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2" descr="blob:https://web.whatsapp.com/2e92c05e-036e-4518-bae6-2898470d3e0f"/>
          <p:cNvSpPr>
            <a:spLocks noChangeAspect="1" noChangeArrowheads="1"/>
          </p:cNvSpPr>
          <p:nvPr/>
        </p:nvSpPr>
        <p:spPr bwMode="auto">
          <a:xfrm>
            <a:off x="917575" y="4631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Google Shape;58;p2"/>
          <p:cNvSpPr txBox="1"/>
          <p:nvPr/>
        </p:nvSpPr>
        <p:spPr>
          <a:xfrm>
            <a:off x="277090" y="289560"/>
            <a:ext cx="8224009" cy="706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que é </a:t>
            </a:r>
            <a:r>
              <a:rPr lang="pt-BR" sz="36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SageMaker</a:t>
            </a: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  <a:endParaRPr sz="36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194" name="Picture 2" descr="python-logo – PNG e Vetor - Download de Logo">
            <a:extLst>
              <a:ext uri="{FF2B5EF4-FFF2-40B4-BE49-F238E27FC236}">
                <a16:creationId xmlns:a16="http://schemas.microsoft.com/office/drawing/2014/main" id="{08CE3B1B-0587-1005-0C5B-0A9816B670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822" y="3204117"/>
            <a:ext cx="1389204" cy="1545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JavaScript Logo – PNG e Vetor – Download de Logo">
            <a:extLst>
              <a:ext uri="{FF2B5EF4-FFF2-40B4-BE49-F238E27FC236}">
                <a16:creationId xmlns:a16="http://schemas.microsoft.com/office/drawing/2014/main" id="{8431526E-1044-9770-2743-B068BF09C8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362" y="3204117"/>
            <a:ext cx="1442277" cy="1442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ruby-logo -">
            <a:extLst>
              <a:ext uri="{FF2B5EF4-FFF2-40B4-BE49-F238E27FC236}">
                <a16:creationId xmlns:a16="http://schemas.microsoft.com/office/drawing/2014/main" id="{7A11E66B-BBCB-EDC4-1A45-09B50B2D3D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5975" y="3216773"/>
            <a:ext cx="1633852" cy="1429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 descr="Go: primeiras impressões durante minha jornada de aprendizado | by Marcelo  Villas Bôas Magrinelli | Equals Lab | Medium">
            <a:extLst>
              <a:ext uri="{FF2B5EF4-FFF2-40B4-BE49-F238E27FC236}">
                <a16:creationId xmlns:a16="http://schemas.microsoft.com/office/drawing/2014/main" id="{92779AFE-4A8A-5BB7-BD27-1044D78376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827" y="3303369"/>
            <a:ext cx="2381250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06931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CAA323-358F-69A8-C89D-B96D80EAA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534" y="228938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pt-BR" b="1" i="1" dirty="0">
                <a:solidFill>
                  <a:srgbClr val="FF0000"/>
                </a:solidFill>
              </a:rPr>
              <a:t>API Web – Studio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E6F26C-AE91-0C6E-92AE-9C572B8AA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06DF1E5-E375-4D26-CBDC-A8BE809AA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16</a:t>
            </a:fld>
            <a:endParaRPr lang="pt-BR"/>
          </a:p>
        </p:txBody>
      </p:sp>
      <p:pic>
        <p:nvPicPr>
          <p:cNvPr id="3074" name="Picture 2" descr="Building, training and deploying machine learning models with Amazon  SageMaker (July 2020) - YouTube">
            <a:extLst>
              <a:ext uri="{FF2B5EF4-FFF2-40B4-BE49-F238E27FC236}">
                <a16:creationId xmlns:a16="http://schemas.microsoft.com/office/drawing/2014/main" id="{04101F1D-AFE2-A65F-9CA1-8DFB25BA3F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6" y="721113"/>
            <a:ext cx="9105484" cy="442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25407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CAA323-358F-69A8-C89D-B96D80EAA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534" y="228938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pt-BR" b="1" i="1" dirty="0">
                <a:solidFill>
                  <a:srgbClr val="FF0000"/>
                </a:solidFill>
              </a:rPr>
              <a:t>API Web – Dashboard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E6F26C-AE91-0C6E-92AE-9C572B8AA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06DF1E5-E375-4D26-CBDC-A8BE809AA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17</a:t>
            </a:fld>
            <a:endParaRPr lang="pt-B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CD23ACC-E518-246C-387C-3BC9B787E8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92126"/>
            <a:ext cx="9144000" cy="425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26923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1a3cd0d61f_0_227"/>
          <p:cNvSpPr txBox="1"/>
          <p:nvPr/>
        </p:nvSpPr>
        <p:spPr>
          <a:xfrm>
            <a:off x="1162075" y="1999501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Prof. Dr. Diego Bruno</a:t>
            </a:r>
            <a:endParaRPr sz="24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g11a3cd0d61f_0_227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Obrigado!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09" name="Google Shape;309;g11a3cd0d61f_0_2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g11a3cd0d61f_0_22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t>18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  <p:sp>
        <p:nvSpPr>
          <p:cNvPr id="312" name="Google Shape;312;g11a3cd0d61f_0_227"/>
          <p:cNvSpPr txBox="1"/>
          <p:nvPr/>
        </p:nvSpPr>
        <p:spPr>
          <a:xfrm>
            <a:off x="-209551" y="2493832"/>
            <a:ext cx="3997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dirty="0">
                <a:solidFill>
                  <a:srgbClr val="FFFF00"/>
                </a:solidFill>
              </a:rPr>
              <a:t>                      </a:t>
            </a:r>
            <a:endParaRPr sz="1800" b="1" i="1" dirty="0">
              <a:solidFill>
                <a:srgbClr val="FFFF00"/>
              </a:solidFill>
            </a:endParaRPr>
          </a:p>
        </p:txBody>
      </p:sp>
      <p:pic>
        <p:nvPicPr>
          <p:cNvPr id="8" name="Picture 2" descr="Amazon SageMaker 现在可支持其他实例类型、本地模式、开源容器、MXNet 和Tensorflow 更新| 亚马逊AWS官方博客">
            <a:extLst>
              <a:ext uri="{FF2B5EF4-FFF2-40B4-BE49-F238E27FC236}">
                <a16:creationId xmlns:a16="http://schemas.microsoft.com/office/drawing/2014/main" id="{0FFA917B-6BF2-8CF2-9797-288B286A6F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2476" y="1279394"/>
            <a:ext cx="2381250" cy="242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37235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35788" y="2975519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Prof. Dr. Diego Bruno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Education Tech Lead </a:t>
            </a:r>
            <a:r>
              <a:rPr lang="en-US" sz="16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na</a:t>
            </a: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DIO</a:t>
            </a:r>
            <a:b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Doutor em Robótica e </a:t>
            </a:r>
            <a:r>
              <a:rPr lang="en-US" sz="1600" i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Machine Learning </a:t>
            </a:r>
            <a:r>
              <a:rPr lang="en-US" sz="16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pelo</a:t>
            </a: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ICMC-USP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305328" y="400718"/>
            <a:ext cx="6117773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200" b="1" u="none" strike="noStrike" cap="none" dirty="0">
                <a:solidFill>
                  <a:srgbClr val="FF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Ferramentas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200" b="1" dirty="0">
                <a:solidFill>
                  <a:srgbClr val="FF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Utilizadas no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200" b="1" u="none" strike="noStrike" cap="none" dirty="0" err="1">
                <a:solidFill>
                  <a:srgbClr val="FF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SageMaker</a:t>
            </a:r>
            <a:r>
              <a:rPr lang="pt-BR" sz="4200" b="1" u="none" strike="noStrike" cap="none" dirty="0">
                <a:solidFill>
                  <a:srgbClr val="FF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 AWS</a:t>
            </a:r>
            <a:endParaRPr sz="4200" b="1" u="none" strike="noStrike" cap="none" dirty="0">
              <a:solidFill>
                <a:srgbClr val="FF0000"/>
              </a:solidFill>
              <a:latin typeface="Century Gothic" panose="020B0502020202020204" pitchFamily="34" charset="0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t>19</a:t>
            </a:fld>
            <a:r>
              <a:rPr lang="en-US"/>
              <a:t>]</a:t>
            </a:r>
            <a:endParaRPr/>
          </a:p>
        </p:txBody>
      </p:sp>
      <p:pic>
        <p:nvPicPr>
          <p:cNvPr id="1028" name="Picture 4" descr="Machine Learning with Amazon SageMaker » Nub8">
            <a:extLst>
              <a:ext uri="{FF2B5EF4-FFF2-40B4-BE49-F238E27FC236}">
                <a16:creationId xmlns:a16="http://schemas.microsoft.com/office/drawing/2014/main" id="{1C24600F-D132-0DA0-63E8-EFEA6D3854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6276" y="2841773"/>
            <a:ext cx="2648879" cy="1128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mazon SageMaker Immersion Day">
            <a:extLst>
              <a:ext uri="{FF2B5EF4-FFF2-40B4-BE49-F238E27FC236}">
                <a16:creationId xmlns:a16="http://schemas.microsoft.com/office/drawing/2014/main" id="{FD6E5CF6-043C-A607-05CE-4B1D7C76B0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4297" y="556732"/>
            <a:ext cx="2472839" cy="2472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68277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0a4cd88d6f_0_57"/>
          <p:cNvSpPr txBox="1"/>
          <p:nvPr/>
        </p:nvSpPr>
        <p:spPr>
          <a:xfrm>
            <a:off x="496977" y="1853829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Prof. Dr. Diego Bruno</a:t>
            </a:r>
            <a:endParaRPr sz="24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10a4cd88d6f_0_57"/>
          <p:cNvSpPr txBox="1"/>
          <p:nvPr/>
        </p:nvSpPr>
        <p:spPr>
          <a:xfrm>
            <a:off x="590574" y="1002115"/>
            <a:ext cx="8698206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6000" b="1" dirty="0">
                <a:solidFill>
                  <a:srgbClr val="FF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Ferramentas </a:t>
            </a:r>
            <a:endParaRPr lang="pt-BR" sz="6000" b="1" u="none" strike="noStrike" cap="none" dirty="0">
              <a:solidFill>
                <a:srgbClr val="FF0000"/>
              </a:solidFill>
              <a:latin typeface="Century Gothic" panose="020B0502020202020204" pitchFamily="34" charset="0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55" name="Google Shape;155;g10a4cd88d6f_0_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10a4cd88d6f_0_5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t>20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  <p:pic>
        <p:nvPicPr>
          <p:cNvPr id="2050" name="Picture 2" descr="Amazon SageMaker 现在可支持其他实例类型、本地模式、开源容器、MXNet 和Tensorflow 更新| 亚马逊AWS官方博客">
            <a:extLst>
              <a:ext uri="{FF2B5EF4-FFF2-40B4-BE49-F238E27FC236}">
                <a16:creationId xmlns:a16="http://schemas.microsoft.com/office/drawing/2014/main" id="{2A200C9B-7866-C2EC-CC41-6BB542585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589" y="2013448"/>
            <a:ext cx="2381250" cy="242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85046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79" y="349534"/>
            <a:ext cx="7872410" cy="549038"/>
          </a:xfrm>
        </p:spPr>
        <p:txBody>
          <a:bodyPr>
            <a:noAutofit/>
          </a:bodyPr>
          <a:lstStyle/>
          <a:p>
            <a:br>
              <a:rPr lang="pt-BR" sz="2200" dirty="0">
                <a:solidFill>
                  <a:srgbClr val="FF0000"/>
                </a:solidFill>
                <a:latin typeface="Arial Narrow" pitchFamily="34" charset="0"/>
              </a:rPr>
            </a:br>
            <a:br>
              <a:rPr lang="pt-BR" sz="2200" dirty="0">
                <a:solidFill>
                  <a:srgbClr val="FF0000"/>
                </a:solidFill>
                <a:latin typeface="Arial Narrow" pitchFamily="34" charset="0"/>
              </a:rPr>
            </a:br>
            <a:r>
              <a:rPr lang="pt-BR" sz="1800" dirty="0">
                <a:solidFill>
                  <a:schemeClr val="tx1"/>
                </a:solidFill>
                <a:latin typeface="Arial Narrow" pitchFamily="34" charset="0"/>
              </a:rPr>
              <a:t>O </a:t>
            </a:r>
            <a:r>
              <a:rPr lang="pt-BR" sz="1800" dirty="0" err="1">
                <a:solidFill>
                  <a:schemeClr val="tx1"/>
                </a:solidFill>
                <a:latin typeface="Arial Narrow" pitchFamily="34" charset="0"/>
              </a:rPr>
              <a:t>Amazon</a:t>
            </a:r>
            <a:r>
              <a:rPr lang="pt-BR" sz="1800" dirty="0">
                <a:solidFill>
                  <a:schemeClr val="tx1"/>
                </a:solidFill>
                <a:latin typeface="Arial Narrow" pitchFamily="34" charset="0"/>
              </a:rPr>
              <a:t> </a:t>
            </a:r>
            <a:r>
              <a:rPr lang="pt-BR" sz="1800" b="1" i="1" dirty="0" err="1">
                <a:solidFill>
                  <a:schemeClr val="tx1"/>
                </a:solidFill>
                <a:latin typeface="Arial Narrow" pitchFamily="34" charset="0"/>
              </a:rPr>
              <a:t>SageMaker</a:t>
            </a:r>
            <a:r>
              <a:rPr lang="pt-BR" sz="1800" dirty="0">
                <a:solidFill>
                  <a:schemeClr val="tx1"/>
                </a:solidFill>
                <a:latin typeface="Arial Narrow" pitchFamily="34" charset="0"/>
              </a:rPr>
              <a:t> é uma plataforma de aprendizado de máquina na nuvem lançada em novembro de 2017. O </a:t>
            </a:r>
            <a:r>
              <a:rPr lang="pt-BR" sz="1800" dirty="0" err="1">
                <a:solidFill>
                  <a:schemeClr val="tx1"/>
                </a:solidFill>
                <a:latin typeface="Arial Narrow" pitchFamily="34" charset="0"/>
              </a:rPr>
              <a:t>SageMaker</a:t>
            </a:r>
            <a:r>
              <a:rPr lang="pt-BR" sz="1800" dirty="0">
                <a:solidFill>
                  <a:schemeClr val="tx1"/>
                </a:solidFill>
                <a:latin typeface="Arial Narrow" pitchFamily="34" charset="0"/>
              </a:rPr>
              <a:t> permite que os desenvolvedores criem, treinem e implantem modelos de aprendizado de máquina na nuvem.</a:t>
            </a:r>
            <a:endParaRPr lang="pt-BR" sz="1800" b="1" i="1" dirty="0">
              <a:solidFill>
                <a:schemeClr val="tx1"/>
              </a:solidFill>
              <a:latin typeface="Arial Narrow" pitchFamily="34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21</a:t>
            </a:fld>
            <a:endParaRPr lang="pt-BR"/>
          </a:p>
        </p:txBody>
      </p:sp>
      <p:sp>
        <p:nvSpPr>
          <p:cNvPr id="4" name="AutoShape 2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307975" y="59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AutoShape 8" descr="Resultado de imagem para robo png"/>
          <p:cNvSpPr>
            <a:spLocks noChangeAspect="1" noChangeArrowheads="1"/>
          </p:cNvSpPr>
          <p:nvPr/>
        </p:nvSpPr>
        <p:spPr bwMode="auto">
          <a:xfrm>
            <a:off x="460375" y="1202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10" descr="Resultado de imagem para robo png"/>
          <p:cNvSpPr>
            <a:spLocks noChangeAspect="1" noChangeArrowheads="1"/>
          </p:cNvSpPr>
          <p:nvPr/>
        </p:nvSpPr>
        <p:spPr bwMode="auto">
          <a:xfrm>
            <a:off x="612775" y="2345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AutoShape 12" descr="Resultado de imagem para robo png"/>
          <p:cNvSpPr>
            <a:spLocks noChangeAspect="1" noChangeArrowheads="1"/>
          </p:cNvSpPr>
          <p:nvPr/>
        </p:nvSpPr>
        <p:spPr bwMode="auto">
          <a:xfrm>
            <a:off x="765175" y="3488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2" descr="blob:https://web.whatsapp.com/2e92c05e-036e-4518-bae6-2898470d3e0f"/>
          <p:cNvSpPr>
            <a:spLocks noChangeAspect="1" noChangeArrowheads="1"/>
          </p:cNvSpPr>
          <p:nvPr/>
        </p:nvSpPr>
        <p:spPr bwMode="auto">
          <a:xfrm>
            <a:off x="917575" y="4631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Google Shape;58;p2"/>
          <p:cNvSpPr txBox="1"/>
          <p:nvPr/>
        </p:nvSpPr>
        <p:spPr>
          <a:xfrm>
            <a:off x="277090" y="289560"/>
            <a:ext cx="8224009" cy="706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Quais as principais Ferramentas?</a:t>
            </a:r>
            <a:endParaRPr sz="36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24DF754-B939-5F30-7DC3-F5A77D98B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73" y="2140859"/>
            <a:ext cx="3751094" cy="2587780"/>
          </a:xfrm>
          <a:prstGeom prst="rect">
            <a:avLst/>
          </a:prstGeom>
        </p:spPr>
      </p:pic>
      <p:pic>
        <p:nvPicPr>
          <p:cNvPr id="14" name="Picture 2" descr="Amazon SageMaker 现在可支持其他实例类型、本地模式、开源容器、MXNet 和Tensorflow 更新| 亚马逊AWS官方博客">
            <a:extLst>
              <a:ext uri="{FF2B5EF4-FFF2-40B4-BE49-F238E27FC236}">
                <a16:creationId xmlns:a16="http://schemas.microsoft.com/office/drawing/2014/main" id="{6BFAF47D-EA1E-4F13-3086-32A9775EA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8799" y="2140859"/>
            <a:ext cx="2381250" cy="242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08079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79" y="349534"/>
            <a:ext cx="7872410" cy="549038"/>
          </a:xfrm>
        </p:spPr>
        <p:txBody>
          <a:bodyPr>
            <a:noAutofit/>
          </a:bodyPr>
          <a:lstStyle/>
          <a:p>
            <a:br>
              <a:rPr lang="pt-BR" sz="2200" dirty="0">
                <a:solidFill>
                  <a:srgbClr val="FF0000"/>
                </a:solidFill>
                <a:latin typeface="Arial Narrow" pitchFamily="34" charset="0"/>
              </a:rPr>
            </a:br>
            <a:br>
              <a:rPr lang="pt-BR" sz="2200" dirty="0">
                <a:solidFill>
                  <a:srgbClr val="FF0000"/>
                </a:solidFill>
                <a:latin typeface="Arial Narrow" pitchFamily="34" charset="0"/>
              </a:rPr>
            </a:br>
            <a:r>
              <a:rPr lang="pt-BR" sz="1800" dirty="0">
                <a:solidFill>
                  <a:schemeClr val="tx1"/>
                </a:solidFill>
                <a:latin typeface="Arial Narrow" pitchFamily="34" charset="0"/>
              </a:rPr>
              <a:t>Métodos de funcionamento:</a:t>
            </a:r>
            <a:endParaRPr lang="pt-BR" sz="1800" b="1" i="1" dirty="0">
              <a:solidFill>
                <a:schemeClr val="tx1"/>
              </a:solidFill>
              <a:latin typeface="Arial Narrow" pitchFamily="34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22</a:t>
            </a:fld>
            <a:endParaRPr lang="pt-BR"/>
          </a:p>
        </p:txBody>
      </p:sp>
      <p:sp>
        <p:nvSpPr>
          <p:cNvPr id="4" name="AutoShape 2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307975" y="59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AutoShape 8" descr="Resultado de imagem para robo png"/>
          <p:cNvSpPr>
            <a:spLocks noChangeAspect="1" noChangeArrowheads="1"/>
          </p:cNvSpPr>
          <p:nvPr/>
        </p:nvSpPr>
        <p:spPr bwMode="auto">
          <a:xfrm>
            <a:off x="460375" y="1202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10" descr="Resultado de imagem para robo png"/>
          <p:cNvSpPr>
            <a:spLocks noChangeAspect="1" noChangeArrowheads="1"/>
          </p:cNvSpPr>
          <p:nvPr/>
        </p:nvSpPr>
        <p:spPr bwMode="auto">
          <a:xfrm>
            <a:off x="612775" y="2345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AutoShape 12" descr="Resultado de imagem para robo png"/>
          <p:cNvSpPr>
            <a:spLocks noChangeAspect="1" noChangeArrowheads="1"/>
          </p:cNvSpPr>
          <p:nvPr/>
        </p:nvSpPr>
        <p:spPr bwMode="auto">
          <a:xfrm>
            <a:off x="765175" y="3488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2" descr="blob:https://web.whatsapp.com/2e92c05e-036e-4518-bae6-2898470d3e0f"/>
          <p:cNvSpPr>
            <a:spLocks noChangeAspect="1" noChangeArrowheads="1"/>
          </p:cNvSpPr>
          <p:nvPr/>
        </p:nvSpPr>
        <p:spPr bwMode="auto">
          <a:xfrm>
            <a:off x="917575" y="4631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Google Shape;58;p2"/>
          <p:cNvSpPr txBox="1"/>
          <p:nvPr/>
        </p:nvSpPr>
        <p:spPr>
          <a:xfrm>
            <a:off x="277090" y="289560"/>
            <a:ext cx="8224009" cy="706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Ferramentas</a:t>
            </a:r>
            <a:endParaRPr sz="36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026" name="Picture 2" descr="Amazon SageMaker Neo">
            <a:extLst>
              <a:ext uri="{FF2B5EF4-FFF2-40B4-BE49-F238E27FC236}">
                <a16:creationId xmlns:a16="http://schemas.microsoft.com/office/drawing/2014/main" id="{3E0B8739-E450-AFE8-E40A-33E2D39190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48056"/>
            <a:ext cx="9144000" cy="2900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12417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79" y="349534"/>
            <a:ext cx="7872410" cy="549038"/>
          </a:xfrm>
        </p:spPr>
        <p:txBody>
          <a:bodyPr>
            <a:noAutofit/>
          </a:bodyPr>
          <a:lstStyle/>
          <a:p>
            <a:br>
              <a:rPr lang="pt-BR" sz="2200" dirty="0">
                <a:solidFill>
                  <a:srgbClr val="FF0000"/>
                </a:solidFill>
                <a:latin typeface="Arial Narrow" pitchFamily="34" charset="0"/>
              </a:rPr>
            </a:br>
            <a:br>
              <a:rPr lang="pt-BR" sz="2200" dirty="0">
                <a:solidFill>
                  <a:srgbClr val="FF0000"/>
                </a:solidFill>
                <a:latin typeface="Arial Narrow" pitchFamily="34" charset="0"/>
              </a:rPr>
            </a:br>
            <a:r>
              <a:rPr lang="pt-BR" sz="1800" dirty="0">
                <a:solidFill>
                  <a:schemeClr val="tx1"/>
                </a:solidFill>
                <a:latin typeface="Arial Narrow" pitchFamily="34" charset="0"/>
              </a:rPr>
              <a:t>Métodos de funcionamento:</a:t>
            </a:r>
            <a:endParaRPr lang="pt-BR" sz="1800" b="1" i="1" dirty="0">
              <a:solidFill>
                <a:schemeClr val="tx1"/>
              </a:solidFill>
              <a:latin typeface="Arial Narrow" pitchFamily="34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23</a:t>
            </a:fld>
            <a:endParaRPr lang="pt-BR"/>
          </a:p>
        </p:txBody>
      </p:sp>
      <p:sp>
        <p:nvSpPr>
          <p:cNvPr id="4" name="AutoShape 2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307975" y="59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AutoShape 8" descr="Resultado de imagem para robo png"/>
          <p:cNvSpPr>
            <a:spLocks noChangeAspect="1" noChangeArrowheads="1"/>
          </p:cNvSpPr>
          <p:nvPr/>
        </p:nvSpPr>
        <p:spPr bwMode="auto">
          <a:xfrm>
            <a:off x="460375" y="1202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10" descr="Resultado de imagem para robo png"/>
          <p:cNvSpPr>
            <a:spLocks noChangeAspect="1" noChangeArrowheads="1"/>
          </p:cNvSpPr>
          <p:nvPr/>
        </p:nvSpPr>
        <p:spPr bwMode="auto">
          <a:xfrm>
            <a:off x="612775" y="2345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AutoShape 12" descr="Resultado de imagem para robo png"/>
          <p:cNvSpPr>
            <a:spLocks noChangeAspect="1" noChangeArrowheads="1"/>
          </p:cNvSpPr>
          <p:nvPr/>
        </p:nvSpPr>
        <p:spPr bwMode="auto">
          <a:xfrm>
            <a:off x="765175" y="3488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2" descr="blob:https://web.whatsapp.com/2e92c05e-036e-4518-bae6-2898470d3e0f"/>
          <p:cNvSpPr>
            <a:spLocks noChangeAspect="1" noChangeArrowheads="1"/>
          </p:cNvSpPr>
          <p:nvPr/>
        </p:nvSpPr>
        <p:spPr bwMode="auto">
          <a:xfrm>
            <a:off x="917575" y="4631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Google Shape;58;p2"/>
          <p:cNvSpPr txBox="1"/>
          <p:nvPr/>
        </p:nvSpPr>
        <p:spPr>
          <a:xfrm>
            <a:off x="277090" y="289560"/>
            <a:ext cx="8224009" cy="706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Ferramentas</a:t>
            </a:r>
            <a:endParaRPr sz="36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098" name="Picture 2" descr="Introduction to Amazon SageMaker - YouTube">
            <a:extLst>
              <a:ext uri="{FF2B5EF4-FFF2-40B4-BE49-F238E27FC236}">
                <a16:creationId xmlns:a16="http://schemas.microsoft.com/office/drawing/2014/main" id="{1555D480-87C1-C781-6DC9-3FDE1FCC2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49631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79" y="349534"/>
            <a:ext cx="7872410" cy="549038"/>
          </a:xfrm>
        </p:spPr>
        <p:txBody>
          <a:bodyPr>
            <a:noAutofit/>
          </a:bodyPr>
          <a:lstStyle/>
          <a:p>
            <a:br>
              <a:rPr lang="pt-BR" sz="2200" dirty="0">
                <a:solidFill>
                  <a:srgbClr val="FF0000"/>
                </a:solidFill>
                <a:latin typeface="Arial Narrow" pitchFamily="34" charset="0"/>
              </a:rPr>
            </a:br>
            <a:br>
              <a:rPr lang="pt-BR" sz="2200" dirty="0">
                <a:solidFill>
                  <a:srgbClr val="FF0000"/>
                </a:solidFill>
                <a:latin typeface="Arial Narrow" pitchFamily="34" charset="0"/>
              </a:rPr>
            </a:br>
            <a:r>
              <a:rPr lang="pt-BR" sz="1800" dirty="0">
                <a:solidFill>
                  <a:schemeClr val="tx1"/>
                </a:solidFill>
                <a:latin typeface="Arial Narrow" pitchFamily="34" charset="0"/>
              </a:rPr>
              <a:t>Métodos de funcionamento:</a:t>
            </a:r>
            <a:endParaRPr lang="pt-BR" sz="1800" b="1" i="1" dirty="0">
              <a:solidFill>
                <a:schemeClr val="tx1"/>
              </a:solidFill>
              <a:latin typeface="Arial Narrow" pitchFamily="34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24</a:t>
            </a:fld>
            <a:endParaRPr lang="pt-BR"/>
          </a:p>
        </p:txBody>
      </p:sp>
      <p:sp>
        <p:nvSpPr>
          <p:cNvPr id="4" name="AutoShape 2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307975" y="59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AutoShape 8" descr="Resultado de imagem para robo png"/>
          <p:cNvSpPr>
            <a:spLocks noChangeAspect="1" noChangeArrowheads="1"/>
          </p:cNvSpPr>
          <p:nvPr/>
        </p:nvSpPr>
        <p:spPr bwMode="auto">
          <a:xfrm>
            <a:off x="460375" y="1202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10" descr="Resultado de imagem para robo png"/>
          <p:cNvSpPr>
            <a:spLocks noChangeAspect="1" noChangeArrowheads="1"/>
          </p:cNvSpPr>
          <p:nvPr/>
        </p:nvSpPr>
        <p:spPr bwMode="auto">
          <a:xfrm>
            <a:off x="612775" y="2345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AutoShape 12" descr="Resultado de imagem para robo png"/>
          <p:cNvSpPr>
            <a:spLocks noChangeAspect="1" noChangeArrowheads="1"/>
          </p:cNvSpPr>
          <p:nvPr/>
        </p:nvSpPr>
        <p:spPr bwMode="auto">
          <a:xfrm>
            <a:off x="765175" y="3488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2" descr="blob:https://web.whatsapp.com/2e92c05e-036e-4518-bae6-2898470d3e0f"/>
          <p:cNvSpPr>
            <a:spLocks noChangeAspect="1" noChangeArrowheads="1"/>
          </p:cNvSpPr>
          <p:nvPr/>
        </p:nvSpPr>
        <p:spPr bwMode="auto">
          <a:xfrm>
            <a:off x="917575" y="4631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Google Shape;58;p2"/>
          <p:cNvSpPr txBox="1"/>
          <p:nvPr/>
        </p:nvSpPr>
        <p:spPr>
          <a:xfrm>
            <a:off x="277090" y="289560"/>
            <a:ext cx="8224009" cy="706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Ferramentas</a:t>
            </a:r>
            <a:endParaRPr sz="36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026" name="Picture 2" descr="Amazon SageMaker Neo">
            <a:extLst>
              <a:ext uri="{FF2B5EF4-FFF2-40B4-BE49-F238E27FC236}">
                <a16:creationId xmlns:a16="http://schemas.microsoft.com/office/drawing/2014/main" id="{3E0B8739-E450-AFE8-E40A-33E2D39190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48056"/>
            <a:ext cx="9144000" cy="2900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8347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79" y="349534"/>
            <a:ext cx="7872410" cy="549038"/>
          </a:xfrm>
        </p:spPr>
        <p:txBody>
          <a:bodyPr>
            <a:noAutofit/>
          </a:bodyPr>
          <a:lstStyle/>
          <a:p>
            <a:br>
              <a:rPr lang="pt-BR" sz="2200" dirty="0">
                <a:solidFill>
                  <a:srgbClr val="FF0000"/>
                </a:solidFill>
                <a:latin typeface="Arial Narrow" pitchFamily="34" charset="0"/>
              </a:rPr>
            </a:br>
            <a:br>
              <a:rPr lang="pt-BR" sz="2200" dirty="0">
                <a:solidFill>
                  <a:srgbClr val="FF0000"/>
                </a:solidFill>
                <a:latin typeface="Arial Narrow" pitchFamily="34" charset="0"/>
              </a:rPr>
            </a:br>
            <a:r>
              <a:rPr lang="pt-BR" sz="1800" dirty="0">
                <a:solidFill>
                  <a:schemeClr val="tx1"/>
                </a:solidFill>
                <a:latin typeface="Arial Narrow" pitchFamily="34" charset="0"/>
              </a:rPr>
              <a:t>Arquitetura de funcionamento:</a:t>
            </a:r>
            <a:endParaRPr lang="pt-BR" sz="1800" b="1" i="1" dirty="0">
              <a:solidFill>
                <a:schemeClr val="tx1"/>
              </a:solidFill>
              <a:latin typeface="Arial Narrow" pitchFamily="34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25</a:t>
            </a:fld>
            <a:endParaRPr lang="pt-BR"/>
          </a:p>
        </p:txBody>
      </p:sp>
      <p:sp>
        <p:nvSpPr>
          <p:cNvPr id="4" name="AutoShape 2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307975" y="59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AutoShape 8" descr="Resultado de imagem para robo png"/>
          <p:cNvSpPr>
            <a:spLocks noChangeAspect="1" noChangeArrowheads="1"/>
          </p:cNvSpPr>
          <p:nvPr/>
        </p:nvSpPr>
        <p:spPr bwMode="auto">
          <a:xfrm>
            <a:off x="460375" y="1202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10" descr="Resultado de imagem para robo png"/>
          <p:cNvSpPr>
            <a:spLocks noChangeAspect="1" noChangeArrowheads="1"/>
          </p:cNvSpPr>
          <p:nvPr/>
        </p:nvSpPr>
        <p:spPr bwMode="auto">
          <a:xfrm>
            <a:off x="612775" y="2345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AutoShape 12" descr="Resultado de imagem para robo png"/>
          <p:cNvSpPr>
            <a:spLocks noChangeAspect="1" noChangeArrowheads="1"/>
          </p:cNvSpPr>
          <p:nvPr/>
        </p:nvSpPr>
        <p:spPr bwMode="auto">
          <a:xfrm>
            <a:off x="765175" y="3488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2" descr="blob:https://web.whatsapp.com/2e92c05e-036e-4518-bae6-2898470d3e0f"/>
          <p:cNvSpPr>
            <a:spLocks noChangeAspect="1" noChangeArrowheads="1"/>
          </p:cNvSpPr>
          <p:nvPr/>
        </p:nvSpPr>
        <p:spPr bwMode="auto">
          <a:xfrm>
            <a:off x="917575" y="4631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Google Shape;58;p2"/>
          <p:cNvSpPr txBox="1"/>
          <p:nvPr/>
        </p:nvSpPr>
        <p:spPr>
          <a:xfrm>
            <a:off x="277090" y="289560"/>
            <a:ext cx="8224009" cy="706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Ferramentas</a:t>
            </a:r>
            <a:endParaRPr sz="36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194" name="Picture 2" descr="MLOps Workload Orchestrator | Implementations | AWS Solutions">
            <a:extLst>
              <a:ext uri="{FF2B5EF4-FFF2-40B4-BE49-F238E27FC236}">
                <a16:creationId xmlns:a16="http://schemas.microsoft.com/office/drawing/2014/main" id="{1A8A1E04-9FAE-4B84-3765-1570BD4F1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423075"/>
            <a:ext cx="7930014" cy="3600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7794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79" y="349534"/>
            <a:ext cx="7872410" cy="549038"/>
          </a:xfrm>
        </p:spPr>
        <p:txBody>
          <a:bodyPr>
            <a:noAutofit/>
          </a:bodyPr>
          <a:lstStyle/>
          <a:p>
            <a:br>
              <a:rPr lang="pt-BR" sz="2200" dirty="0">
                <a:solidFill>
                  <a:srgbClr val="FF0000"/>
                </a:solidFill>
                <a:latin typeface="Arial Narrow" pitchFamily="34" charset="0"/>
              </a:rPr>
            </a:br>
            <a:br>
              <a:rPr lang="pt-BR" sz="2200" dirty="0">
                <a:solidFill>
                  <a:srgbClr val="FF0000"/>
                </a:solidFill>
                <a:latin typeface="Arial Narrow" pitchFamily="34" charset="0"/>
              </a:rPr>
            </a:br>
            <a:r>
              <a:rPr lang="pt-BR" sz="1800" dirty="0">
                <a:solidFill>
                  <a:schemeClr val="tx1"/>
                </a:solidFill>
                <a:latin typeface="Arial Narrow" pitchFamily="34" charset="0"/>
              </a:rPr>
              <a:t>Arquitetura de funcionamento:</a:t>
            </a:r>
            <a:endParaRPr lang="pt-BR" sz="1800" b="1" i="1" dirty="0">
              <a:solidFill>
                <a:schemeClr val="tx1"/>
              </a:solidFill>
              <a:latin typeface="Arial Narrow" pitchFamily="34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26</a:t>
            </a:fld>
            <a:endParaRPr lang="pt-BR"/>
          </a:p>
        </p:txBody>
      </p:sp>
      <p:sp>
        <p:nvSpPr>
          <p:cNvPr id="4" name="AutoShape 2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307975" y="59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AutoShape 8" descr="Resultado de imagem para robo png"/>
          <p:cNvSpPr>
            <a:spLocks noChangeAspect="1" noChangeArrowheads="1"/>
          </p:cNvSpPr>
          <p:nvPr/>
        </p:nvSpPr>
        <p:spPr bwMode="auto">
          <a:xfrm>
            <a:off x="460375" y="1202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10" descr="Resultado de imagem para robo png"/>
          <p:cNvSpPr>
            <a:spLocks noChangeAspect="1" noChangeArrowheads="1"/>
          </p:cNvSpPr>
          <p:nvPr/>
        </p:nvSpPr>
        <p:spPr bwMode="auto">
          <a:xfrm>
            <a:off x="612775" y="2345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AutoShape 12" descr="Resultado de imagem para robo png"/>
          <p:cNvSpPr>
            <a:spLocks noChangeAspect="1" noChangeArrowheads="1"/>
          </p:cNvSpPr>
          <p:nvPr/>
        </p:nvSpPr>
        <p:spPr bwMode="auto">
          <a:xfrm>
            <a:off x="765175" y="3488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2" descr="blob:https://web.whatsapp.com/2e92c05e-036e-4518-bae6-2898470d3e0f"/>
          <p:cNvSpPr>
            <a:spLocks noChangeAspect="1" noChangeArrowheads="1"/>
          </p:cNvSpPr>
          <p:nvPr/>
        </p:nvSpPr>
        <p:spPr bwMode="auto">
          <a:xfrm>
            <a:off x="917575" y="4631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Google Shape;58;p2"/>
          <p:cNvSpPr txBox="1"/>
          <p:nvPr/>
        </p:nvSpPr>
        <p:spPr>
          <a:xfrm>
            <a:off x="277090" y="289560"/>
            <a:ext cx="8224009" cy="706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Ferramentas</a:t>
            </a:r>
            <a:endParaRPr sz="36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122" name="Picture 2" descr="Introduction to Amazon Sagemaker. by Pronay Ghosh and Hiren Rupchandani |  by INSAID | Medium">
            <a:extLst>
              <a:ext uri="{FF2B5EF4-FFF2-40B4-BE49-F238E27FC236}">
                <a16:creationId xmlns:a16="http://schemas.microsoft.com/office/drawing/2014/main" id="{B52BDAD0-E27A-1151-495C-F869A14B5E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90" y="1611983"/>
            <a:ext cx="5297371" cy="3538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74537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79" y="349534"/>
            <a:ext cx="7872410" cy="549038"/>
          </a:xfrm>
        </p:spPr>
        <p:txBody>
          <a:bodyPr>
            <a:noAutofit/>
          </a:bodyPr>
          <a:lstStyle/>
          <a:p>
            <a:br>
              <a:rPr lang="pt-BR" sz="2200" dirty="0">
                <a:solidFill>
                  <a:srgbClr val="FF0000"/>
                </a:solidFill>
                <a:latin typeface="Arial Narrow" pitchFamily="34" charset="0"/>
              </a:rPr>
            </a:br>
            <a:br>
              <a:rPr lang="pt-BR" sz="2200" dirty="0">
                <a:solidFill>
                  <a:srgbClr val="FF0000"/>
                </a:solidFill>
                <a:latin typeface="Arial Narrow" pitchFamily="34" charset="0"/>
              </a:rPr>
            </a:br>
            <a:r>
              <a:rPr lang="pt-BR" sz="1800" dirty="0">
                <a:solidFill>
                  <a:schemeClr val="tx1"/>
                </a:solidFill>
                <a:latin typeface="Arial Narrow" pitchFamily="34" charset="0"/>
              </a:rPr>
              <a:t>Métodos de funcionamento:</a:t>
            </a:r>
            <a:endParaRPr lang="pt-BR" sz="1800" b="1" i="1" dirty="0">
              <a:solidFill>
                <a:schemeClr val="tx1"/>
              </a:solidFill>
              <a:latin typeface="Arial Narrow" pitchFamily="34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27</a:t>
            </a:fld>
            <a:endParaRPr lang="pt-BR"/>
          </a:p>
        </p:txBody>
      </p:sp>
      <p:sp>
        <p:nvSpPr>
          <p:cNvPr id="4" name="AutoShape 2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307975" y="59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AutoShape 8" descr="Resultado de imagem para robo png"/>
          <p:cNvSpPr>
            <a:spLocks noChangeAspect="1" noChangeArrowheads="1"/>
          </p:cNvSpPr>
          <p:nvPr/>
        </p:nvSpPr>
        <p:spPr bwMode="auto">
          <a:xfrm>
            <a:off x="460375" y="1202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10" descr="Resultado de imagem para robo png"/>
          <p:cNvSpPr>
            <a:spLocks noChangeAspect="1" noChangeArrowheads="1"/>
          </p:cNvSpPr>
          <p:nvPr/>
        </p:nvSpPr>
        <p:spPr bwMode="auto">
          <a:xfrm>
            <a:off x="612775" y="2345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AutoShape 12" descr="Resultado de imagem para robo png"/>
          <p:cNvSpPr>
            <a:spLocks noChangeAspect="1" noChangeArrowheads="1"/>
          </p:cNvSpPr>
          <p:nvPr/>
        </p:nvSpPr>
        <p:spPr bwMode="auto">
          <a:xfrm>
            <a:off x="765175" y="3488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2" descr="blob:https://web.whatsapp.com/2e92c05e-036e-4518-bae6-2898470d3e0f"/>
          <p:cNvSpPr>
            <a:spLocks noChangeAspect="1" noChangeArrowheads="1"/>
          </p:cNvSpPr>
          <p:nvPr/>
        </p:nvSpPr>
        <p:spPr bwMode="auto">
          <a:xfrm>
            <a:off x="917575" y="4631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Google Shape;58;p2"/>
          <p:cNvSpPr txBox="1"/>
          <p:nvPr/>
        </p:nvSpPr>
        <p:spPr>
          <a:xfrm>
            <a:off x="277090" y="289560"/>
            <a:ext cx="8224009" cy="706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600" b="1" i="0" u="none" strike="noStrike" cap="none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SageMaker</a:t>
            </a: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Studio</a:t>
            </a:r>
            <a:endParaRPr sz="36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FA5D373A-D774-7C14-9346-A327B980B1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57093"/>
            <a:ext cx="9144000" cy="3777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6886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1a3cd0d61f_0_227"/>
          <p:cNvSpPr txBox="1"/>
          <p:nvPr/>
        </p:nvSpPr>
        <p:spPr>
          <a:xfrm>
            <a:off x="1162075" y="1999501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Prof. Dr. Diego Bruno</a:t>
            </a:r>
            <a:endParaRPr sz="24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g11a3cd0d61f_0_227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Obrigado!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09" name="Google Shape;309;g11a3cd0d61f_0_2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g11a3cd0d61f_0_22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t>28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  <p:sp>
        <p:nvSpPr>
          <p:cNvPr id="312" name="Google Shape;312;g11a3cd0d61f_0_227"/>
          <p:cNvSpPr txBox="1"/>
          <p:nvPr/>
        </p:nvSpPr>
        <p:spPr>
          <a:xfrm>
            <a:off x="-209551" y="2493832"/>
            <a:ext cx="3997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dirty="0">
                <a:solidFill>
                  <a:srgbClr val="FFFF00"/>
                </a:solidFill>
              </a:rPr>
              <a:t>                      </a:t>
            </a:r>
            <a:endParaRPr sz="1800" b="1" i="1" dirty="0">
              <a:solidFill>
                <a:srgbClr val="FFFF00"/>
              </a:solidFill>
            </a:endParaRPr>
          </a:p>
        </p:txBody>
      </p:sp>
      <p:pic>
        <p:nvPicPr>
          <p:cNvPr id="8" name="Picture 2" descr="Amazon SageMaker 现在可支持其他实例类型、本地模式、开源容器、MXNet 和Tensorflow 更新| 亚马逊AWS官方博客">
            <a:extLst>
              <a:ext uri="{FF2B5EF4-FFF2-40B4-BE49-F238E27FC236}">
                <a16:creationId xmlns:a16="http://schemas.microsoft.com/office/drawing/2014/main" id="{0FFA917B-6BF2-8CF2-9797-288B286A6F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2476" y="1279394"/>
            <a:ext cx="2381250" cy="242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14628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35788" y="2975519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Prof. Dr. Diego Bruno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Education Tech Lead </a:t>
            </a:r>
            <a:r>
              <a:rPr lang="en-US" sz="1600" b="0" i="0" u="none" strike="noStrike" cap="none" dirty="0" err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na</a:t>
            </a: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DIO</a:t>
            </a:r>
            <a:b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Doutor em Robótica e </a:t>
            </a:r>
            <a:r>
              <a:rPr lang="en-US" sz="1600" i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Machine Learning </a:t>
            </a:r>
            <a:r>
              <a:rPr lang="en-US" sz="16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pelo</a:t>
            </a: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ICMC-USP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305328" y="400718"/>
            <a:ext cx="6117773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200" b="1" u="none" strike="noStrike" cap="none" dirty="0">
                <a:solidFill>
                  <a:srgbClr val="FF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Criando uma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200" b="1" u="none" strike="noStrike" cap="none" dirty="0">
                <a:solidFill>
                  <a:srgbClr val="FF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conta </a:t>
            </a:r>
            <a:r>
              <a:rPr lang="pt-BR" sz="4200" b="1" dirty="0">
                <a:solidFill>
                  <a:srgbClr val="FF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na AWS</a:t>
            </a:r>
            <a:endParaRPr sz="4200" b="1" u="none" strike="noStrike" cap="none" dirty="0">
              <a:solidFill>
                <a:srgbClr val="FF0000"/>
              </a:solidFill>
              <a:latin typeface="Century Gothic" panose="020B0502020202020204" pitchFamily="34" charset="0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t>29</a:t>
            </a:fld>
            <a:r>
              <a:rPr lang="en-US"/>
              <a:t>]</a:t>
            </a:r>
            <a:endParaRPr/>
          </a:p>
        </p:txBody>
      </p:sp>
      <p:pic>
        <p:nvPicPr>
          <p:cNvPr id="1028" name="Picture 4" descr="Machine Learning with Amazon SageMaker » Nub8">
            <a:extLst>
              <a:ext uri="{FF2B5EF4-FFF2-40B4-BE49-F238E27FC236}">
                <a16:creationId xmlns:a16="http://schemas.microsoft.com/office/drawing/2014/main" id="{1C24600F-D132-0DA0-63E8-EFEA6D3854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4583" y="2672961"/>
            <a:ext cx="2648879" cy="1128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Amazon Web Services Logo: valor, história, PNG">
            <a:extLst>
              <a:ext uri="{FF2B5EF4-FFF2-40B4-BE49-F238E27FC236}">
                <a16:creationId xmlns:a16="http://schemas.microsoft.com/office/drawing/2014/main" id="{FAF6F487-D7A9-B8B4-208B-5C30F0D79F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0307" y="488951"/>
            <a:ext cx="4121834" cy="2318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23695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0a4cd88d6f_0_57"/>
          <p:cNvSpPr txBox="1"/>
          <p:nvPr/>
        </p:nvSpPr>
        <p:spPr>
          <a:xfrm>
            <a:off x="496977" y="1853829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Prof. Dr. Diego Bruno</a:t>
            </a:r>
            <a:endParaRPr sz="24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10a4cd88d6f_0_57"/>
          <p:cNvSpPr txBox="1"/>
          <p:nvPr/>
        </p:nvSpPr>
        <p:spPr>
          <a:xfrm>
            <a:off x="590574" y="1002115"/>
            <a:ext cx="8698206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4800" b="1" dirty="0">
                <a:solidFill>
                  <a:srgbClr val="FF0000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rPr>
              <a:t>Criando uma conta</a:t>
            </a:r>
            <a:endParaRPr lang="pt-BR" sz="4800" b="1" u="none" strike="noStrike" cap="none" dirty="0">
              <a:solidFill>
                <a:srgbClr val="FF0000"/>
              </a:solidFill>
              <a:latin typeface="Century Gothic" panose="020B0502020202020204" pitchFamily="34" charset="0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55" name="Google Shape;155;g10a4cd88d6f_0_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10a4cd88d6f_0_5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t>30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  <p:pic>
        <p:nvPicPr>
          <p:cNvPr id="7" name="Picture 2" descr="Amazon Web Services Logo: valor, história, PNG">
            <a:extLst>
              <a:ext uri="{FF2B5EF4-FFF2-40B4-BE49-F238E27FC236}">
                <a16:creationId xmlns:a16="http://schemas.microsoft.com/office/drawing/2014/main" id="{40326083-813F-A4DC-049D-9807E9E11C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5144" y="1915615"/>
            <a:ext cx="4121834" cy="2318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30146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79" y="349534"/>
            <a:ext cx="7872410" cy="549038"/>
          </a:xfrm>
        </p:spPr>
        <p:txBody>
          <a:bodyPr>
            <a:noAutofit/>
          </a:bodyPr>
          <a:lstStyle/>
          <a:p>
            <a:br>
              <a:rPr lang="pt-BR" sz="2200" dirty="0">
                <a:solidFill>
                  <a:srgbClr val="FF0000"/>
                </a:solidFill>
                <a:latin typeface="Arial Narrow" pitchFamily="34" charset="0"/>
              </a:rPr>
            </a:br>
            <a:br>
              <a:rPr lang="pt-BR" sz="2200" dirty="0">
                <a:solidFill>
                  <a:srgbClr val="FF0000"/>
                </a:solidFill>
                <a:latin typeface="Arial Narrow" pitchFamily="34" charset="0"/>
              </a:rPr>
            </a:br>
            <a:r>
              <a:rPr lang="pt-BR" sz="1800" dirty="0">
                <a:solidFill>
                  <a:schemeClr val="tx1"/>
                </a:solidFill>
                <a:latin typeface="Arial Narrow" pitchFamily="34" charset="0"/>
              </a:rPr>
              <a:t>Passos iniciais.</a:t>
            </a:r>
            <a:endParaRPr lang="pt-BR" sz="1800" b="1" i="1" dirty="0">
              <a:solidFill>
                <a:schemeClr val="tx1"/>
              </a:solidFill>
              <a:latin typeface="Arial Narrow" pitchFamily="34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31</a:t>
            </a:fld>
            <a:endParaRPr lang="pt-BR"/>
          </a:p>
        </p:txBody>
      </p:sp>
      <p:sp>
        <p:nvSpPr>
          <p:cNvPr id="4" name="AutoShape 2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307975" y="59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AutoShape 8" descr="Resultado de imagem para robo png"/>
          <p:cNvSpPr>
            <a:spLocks noChangeAspect="1" noChangeArrowheads="1"/>
          </p:cNvSpPr>
          <p:nvPr/>
        </p:nvSpPr>
        <p:spPr bwMode="auto">
          <a:xfrm>
            <a:off x="460375" y="1202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10" descr="Resultado de imagem para robo png"/>
          <p:cNvSpPr>
            <a:spLocks noChangeAspect="1" noChangeArrowheads="1"/>
          </p:cNvSpPr>
          <p:nvPr/>
        </p:nvSpPr>
        <p:spPr bwMode="auto">
          <a:xfrm>
            <a:off x="612775" y="2345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AutoShape 12" descr="Resultado de imagem para robo png"/>
          <p:cNvSpPr>
            <a:spLocks noChangeAspect="1" noChangeArrowheads="1"/>
          </p:cNvSpPr>
          <p:nvPr/>
        </p:nvSpPr>
        <p:spPr bwMode="auto">
          <a:xfrm>
            <a:off x="765175" y="3488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2" descr="blob:https://web.whatsapp.com/2e92c05e-036e-4518-bae6-2898470d3e0f"/>
          <p:cNvSpPr>
            <a:spLocks noChangeAspect="1" noChangeArrowheads="1"/>
          </p:cNvSpPr>
          <p:nvPr/>
        </p:nvSpPr>
        <p:spPr bwMode="auto">
          <a:xfrm>
            <a:off x="917575" y="4631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Google Shape;58;p2"/>
          <p:cNvSpPr txBox="1"/>
          <p:nvPr/>
        </p:nvSpPr>
        <p:spPr>
          <a:xfrm>
            <a:off x="277090" y="289560"/>
            <a:ext cx="8224009" cy="706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6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Passos para criação de conta</a:t>
            </a:r>
            <a:endParaRPr sz="36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43265FD9-E058-99AC-B58F-7F0F1363B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75" y="1588090"/>
            <a:ext cx="2872871" cy="3555410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A813C838-11E1-2750-609D-8DB14C326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9863" y="1905732"/>
            <a:ext cx="2338760" cy="921847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CB135B91-2EE3-12A2-C5C0-31499FF6C3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9863" y="3185600"/>
            <a:ext cx="2338760" cy="1256810"/>
          </a:xfrm>
          <a:prstGeom prst="rect">
            <a:avLst/>
          </a:prstGeom>
        </p:spPr>
      </p:pic>
      <p:sp>
        <p:nvSpPr>
          <p:cNvPr id="19" name="Seta: para a Direita 18">
            <a:extLst>
              <a:ext uri="{FF2B5EF4-FFF2-40B4-BE49-F238E27FC236}">
                <a16:creationId xmlns:a16="http://schemas.microsoft.com/office/drawing/2014/main" id="{7B77F7CF-C939-F72E-6CCF-628135FB6728}"/>
              </a:ext>
            </a:extLst>
          </p:cNvPr>
          <p:cNvSpPr/>
          <p:nvPr/>
        </p:nvSpPr>
        <p:spPr>
          <a:xfrm>
            <a:off x="3609137" y="4048514"/>
            <a:ext cx="569741" cy="39389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103373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79" y="349534"/>
            <a:ext cx="7872410" cy="549038"/>
          </a:xfrm>
        </p:spPr>
        <p:txBody>
          <a:bodyPr>
            <a:noAutofit/>
          </a:bodyPr>
          <a:lstStyle/>
          <a:p>
            <a:br>
              <a:rPr lang="pt-BR" sz="2200" dirty="0">
                <a:solidFill>
                  <a:srgbClr val="FF0000"/>
                </a:solidFill>
                <a:latin typeface="Arial Narrow" pitchFamily="34" charset="0"/>
              </a:rPr>
            </a:br>
            <a:br>
              <a:rPr lang="pt-BR" sz="2200" dirty="0">
                <a:solidFill>
                  <a:srgbClr val="FF0000"/>
                </a:solidFill>
                <a:latin typeface="Arial Narrow" pitchFamily="34" charset="0"/>
              </a:rPr>
            </a:br>
            <a:r>
              <a:rPr lang="pt-BR" sz="1800" dirty="0">
                <a:solidFill>
                  <a:schemeClr val="tx1"/>
                </a:solidFill>
                <a:latin typeface="Arial Narrow" pitchFamily="34" charset="0"/>
              </a:rPr>
              <a:t>Passos iniciais.</a:t>
            </a:r>
            <a:endParaRPr lang="pt-BR" sz="1800" b="1" i="1" dirty="0">
              <a:solidFill>
                <a:schemeClr val="tx1"/>
              </a:solidFill>
              <a:latin typeface="Arial Narrow" pitchFamily="34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32</a:t>
            </a:fld>
            <a:endParaRPr lang="pt-BR"/>
          </a:p>
        </p:txBody>
      </p:sp>
      <p:sp>
        <p:nvSpPr>
          <p:cNvPr id="4" name="AutoShape 2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307975" y="59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AutoShape 8" descr="Resultado de imagem para robo png"/>
          <p:cNvSpPr>
            <a:spLocks noChangeAspect="1" noChangeArrowheads="1"/>
          </p:cNvSpPr>
          <p:nvPr/>
        </p:nvSpPr>
        <p:spPr bwMode="auto">
          <a:xfrm>
            <a:off x="460375" y="1202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10" descr="Resultado de imagem para robo png"/>
          <p:cNvSpPr>
            <a:spLocks noChangeAspect="1" noChangeArrowheads="1"/>
          </p:cNvSpPr>
          <p:nvPr/>
        </p:nvSpPr>
        <p:spPr bwMode="auto">
          <a:xfrm>
            <a:off x="612775" y="2345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AutoShape 12" descr="Resultado de imagem para robo png"/>
          <p:cNvSpPr>
            <a:spLocks noChangeAspect="1" noChangeArrowheads="1"/>
          </p:cNvSpPr>
          <p:nvPr/>
        </p:nvSpPr>
        <p:spPr bwMode="auto">
          <a:xfrm>
            <a:off x="765175" y="3488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2" descr="blob:https://web.whatsapp.com/2e92c05e-036e-4518-bae6-2898470d3e0f"/>
          <p:cNvSpPr>
            <a:spLocks noChangeAspect="1" noChangeArrowheads="1"/>
          </p:cNvSpPr>
          <p:nvPr/>
        </p:nvSpPr>
        <p:spPr bwMode="auto">
          <a:xfrm>
            <a:off x="917575" y="4631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Google Shape;58;p2"/>
          <p:cNvSpPr txBox="1"/>
          <p:nvPr/>
        </p:nvSpPr>
        <p:spPr>
          <a:xfrm>
            <a:off x="277090" y="289560"/>
            <a:ext cx="8224009" cy="706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6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Passos para criação de conta</a:t>
            </a:r>
            <a:endParaRPr sz="36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CBC6C4F-C38E-B23B-9BDB-39F8080A9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90" y="1565241"/>
            <a:ext cx="6876332" cy="3458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1909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79" y="349534"/>
            <a:ext cx="7872410" cy="549038"/>
          </a:xfrm>
        </p:spPr>
        <p:txBody>
          <a:bodyPr>
            <a:noAutofit/>
          </a:bodyPr>
          <a:lstStyle/>
          <a:p>
            <a:br>
              <a:rPr lang="pt-BR" sz="2200" dirty="0">
                <a:solidFill>
                  <a:srgbClr val="FF0000"/>
                </a:solidFill>
                <a:latin typeface="Arial Narrow" pitchFamily="34" charset="0"/>
              </a:rPr>
            </a:br>
            <a:br>
              <a:rPr lang="pt-BR" sz="2200" dirty="0">
                <a:solidFill>
                  <a:srgbClr val="FF0000"/>
                </a:solidFill>
                <a:latin typeface="Arial Narrow" pitchFamily="34" charset="0"/>
              </a:rPr>
            </a:br>
            <a:r>
              <a:rPr lang="pt-BR" sz="1800" dirty="0">
                <a:solidFill>
                  <a:schemeClr val="tx1"/>
                </a:solidFill>
                <a:latin typeface="Arial Narrow" pitchFamily="34" charset="0"/>
              </a:rPr>
              <a:t>Passos iniciais.</a:t>
            </a:r>
            <a:endParaRPr lang="pt-BR" sz="1800" b="1" i="1" dirty="0">
              <a:solidFill>
                <a:schemeClr val="tx1"/>
              </a:solidFill>
              <a:latin typeface="Arial Narrow" pitchFamily="34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33</a:t>
            </a:fld>
            <a:endParaRPr lang="pt-BR"/>
          </a:p>
        </p:txBody>
      </p:sp>
      <p:sp>
        <p:nvSpPr>
          <p:cNvPr id="4" name="AutoShape 2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307975" y="59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AutoShape 8" descr="Resultado de imagem para robo png"/>
          <p:cNvSpPr>
            <a:spLocks noChangeAspect="1" noChangeArrowheads="1"/>
          </p:cNvSpPr>
          <p:nvPr/>
        </p:nvSpPr>
        <p:spPr bwMode="auto">
          <a:xfrm>
            <a:off x="460375" y="1202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10" descr="Resultado de imagem para robo png"/>
          <p:cNvSpPr>
            <a:spLocks noChangeAspect="1" noChangeArrowheads="1"/>
          </p:cNvSpPr>
          <p:nvPr/>
        </p:nvSpPr>
        <p:spPr bwMode="auto">
          <a:xfrm>
            <a:off x="612775" y="2345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AutoShape 12" descr="Resultado de imagem para robo png"/>
          <p:cNvSpPr>
            <a:spLocks noChangeAspect="1" noChangeArrowheads="1"/>
          </p:cNvSpPr>
          <p:nvPr/>
        </p:nvSpPr>
        <p:spPr bwMode="auto">
          <a:xfrm>
            <a:off x="765175" y="3488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2" descr="blob:https://web.whatsapp.com/2e92c05e-036e-4518-bae6-2898470d3e0f"/>
          <p:cNvSpPr>
            <a:spLocks noChangeAspect="1" noChangeArrowheads="1"/>
          </p:cNvSpPr>
          <p:nvPr/>
        </p:nvSpPr>
        <p:spPr bwMode="auto">
          <a:xfrm>
            <a:off x="917575" y="4631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Google Shape;58;p2"/>
          <p:cNvSpPr txBox="1"/>
          <p:nvPr/>
        </p:nvSpPr>
        <p:spPr>
          <a:xfrm>
            <a:off x="277090" y="289560"/>
            <a:ext cx="8224009" cy="706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6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Passos para criação de conta</a:t>
            </a:r>
            <a:endParaRPr sz="36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D35CCBE4-1D67-6113-7E48-53F4ED803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179" y="1464059"/>
            <a:ext cx="4824200" cy="3559188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C0FF349F-63B4-0969-9562-30A57D03E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9904" y="2339634"/>
            <a:ext cx="4118705" cy="2316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4868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1a3cd0d61f_0_227"/>
          <p:cNvSpPr txBox="1"/>
          <p:nvPr/>
        </p:nvSpPr>
        <p:spPr>
          <a:xfrm>
            <a:off x="1162075" y="1999501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Prof. Dr. Diego Bruno</a:t>
            </a:r>
            <a:endParaRPr sz="24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g11a3cd0d61f_0_227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Obrigado!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09" name="Google Shape;309;g11a3cd0d61f_0_2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g11a3cd0d61f_0_22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t>34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  <p:sp>
        <p:nvSpPr>
          <p:cNvPr id="312" name="Google Shape;312;g11a3cd0d61f_0_227"/>
          <p:cNvSpPr txBox="1"/>
          <p:nvPr/>
        </p:nvSpPr>
        <p:spPr>
          <a:xfrm>
            <a:off x="-209551" y="2493832"/>
            <a:ext cx="3997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dirty="0">
                <a:solidFill>
                  <a:srgbClr val="FFFF00"/>
                </a:solidFill>
              </a:rPr>
              <a:t>                      </a:t>
            </a:r>
            <a:endParaRPr sz="1800" b="1" i="1" dirty="0">
              <a:solidFill>
                <a:srgbClr val="FFFF00"/>
              </a:solidFill>
            </a:endParaRPr>
          </a:p>
        </p:txBody>
      </p:sp>
      <p:pic>
        <p:nvPicPr>
          <p:cNvPr id="8" name="Picture 2" descr="Amazon SageMaker 现在可支持其他实例类型、本地模式、开源容器、MXNet 和Tensorflow 更新| 亚马逊AWS官方博客">
            <a:extLst>
              <a:ext uri="{FF2B5EF4-FFF2-40B4-BE49-F238E27FC236}">
                <a16:creationId xmlns:a16="http://schemas.microsoft.com/office/drawing/2014/main" id="{0FFA917B-6BF2-8CF2-9797-288B286A6F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2476" y="1279394"/>
            <a:ext cx="2381250" cy="242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176369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E48B58A68BE64E9120D347E3E06B3A" ma:contentTypeVersion="15" ma:contentTypeDescription="Crie um novo documento." ma:contentTypeScope="" ma:versionID="b5045d34f54d00713f1d3c8a948584d5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393f5ed8fbc70cc4225b4f59a31ebb55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Props1.xml><?xml version="1.0" encoding="utf-8"?>
<ds:datastoreItem xmlns:ds="http://schemas.openxmlformats.org/officeDocument/2006/customXml" ds:itemID="{EA7B85C6-C590-4D8A-B1F7-E2AAFFEBC75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8046B51-2AB1-48BA-B5CE-7A34F298D6D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1b35d3-0456-4d6a-bc2f-da927e91d158"/>
    <ds:schemaRef ds:uri="19483571-f922-4e8e-9c1c-26f0a22521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9C6B5AB-16CE-495D-A64D-E3887CE15209}">
  <ds:schemaRefs>
    <ds:schemaRef ds:uri="http://schemas.microsoft.com/office/2006/metadata/properties"/>
    <ds:schemaRef ds:uri="http://schemas.microsoft.com/office/infopath/2007/PartnerControls"/>
    <ds:schemaRef ds:uri="851b35d3-0456-4d6a-bc2f-da927e91d158"/>
    <ds:schemaRef ds:uri="19483571-f922-4e8e-9c1c-26f0a225213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2383</TotalTime>
  <Words>329</Words>
  <Application>Microsoft Office PowerPoint</Application>
  <PresentationFormat>Apresentação na tela (16:9)</PresentationFormat>
  <Paragraphs>57</Paragraphs>
  <Slides>34</Slides>
  <Notes>18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35" baseType="lpstr"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  O Amazon SageMaker é uma plataforma de aprendizado de máquina na nuvem lançada em novembro de 2017. O SageMaker permite que os desenvolvedores criem, treinem e implantem modelos de aprendizado de máquina na nuvem.</vt:lpstr>
      <vt:lpstr>  O SageMaker permite que os desenvolvedores operem em vários níveis de abstração ao treinar e implantar modelos de aprendizado de máquina. Em seu nível mais alto de abstração, o SageMaker fornece modelos de ML pré-treinados que podem ser implantados como estão.</vt:lpstr>
      <vt:lpstr>  Além disso, o SageMaker fornece vários algoritmos de ML integrados que os desenvolvedores podem treinar em seus próprios dados. Além disso, o SageMaker fornece instâncias gerenciadas do TensorFlow e do Pytorch, onde os desenvolvedores podem criar seus próprios algoritmos de ML do zero.</vt:lpstr>
      <vt:lpstr>  Independentemente do nível de abstração usado, um desenvolvedor pode conectar seus modelos de ML habilitados para SageMaker a outros serviços da AWS , como o Amazon Dynamo DBbanco de dados para armazenamento de dados estruturados, AWS Batch para processamento offline em lote, ou Amazon Kinesis para processamento em tempo real.</vt:lpstr>
      <vt:lpstr>  Várias interfaces estão disponíveis para os desenvolvedores interagirem com o SageMaker. Primeiro, há uma API da Web que controla remotamente uma instância do servidor SageMaker.   Embora a API da Web seja independente da linguagem de programação usada pelo desenvolvedor, a Amazon fornece associações de API do SageMaker para várias linguagens, incluindo Python , JavaScript , Ruby , Java e Go.</vt:lpstr>
      <vt:lpstr>API Web – Studio</vt:lpstr>
      <vt:lpstr>API Web – Dashboard </vt:lpstr>
      <vt:lpstr>Apresentação do PowerPoint</vt:lpstr>
      <vt:lpstr>Apresentação do PowerPoint</vt:lpstr>
      <vt:lpstr>Apresentação do PowerPoint</vt:lpstr>
      <vt:lpstr>  O Amazon SageMaker é uma plataforma de aprendizado de máquina na nuvem lançada em novembro de 2017. O SageMaker permite que os desenvolvedores criem, treinem e implantem modelos de aprendizado de máquina na nuvem.</vt:lpstr>
      <vt:lpstr>  Métodos de funcionamento:</vt:lpstr>
      <vt:lpstr>  Métodos de funcionamento:</vt:lpstr>
      <vt:lpstr>  Métodos de funcionamento:</vt:lpstr>
      <vt:lpstr>  Arquitetura de funcionamento:</vt:lpstr>
      <vt:lpstr>  Arquitetura de funcionamento:</vt:lpstr>
      <vt:lpstr>  Métodos de funcionamento:</vt:lpstr>
      <vt:lpstr>Apresentação do PowerPoint</vt:lpstr>
      <vt:lpstr>Apresentação do PowerPoint</vt:lpstr>
      <vt:lpstr>Apresentação do PowerPoint</vt:lpstr>
      <vt:lpstr>  Passos iniciais.</vt:lpstr>
      <vt:lpstr>  Passos iniciais.</vt:lpstr>
      <vt:lpstr>  Passos iniciais.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Larissa Mestieri</dc:creator>
  <cp:lastModifiedBy>DIEGO RENAN BRUNO</cp:lastModifiedBy>
  <cp:revision>21</cp:revision>
  <dcterms:modified xsi:type="dcterms:W3CDTF">2022-11-08T01:43:08Z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</Properties>
</file>