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embeddedFontLst>
    <p:embeddedFont>
      <p:font typeface="Arial Narrow"/>
      <p:regular r:id="rId17"/>
      <p:bold r:id="rId18"/>
      <p:italic r:id="rId19"/>
      <p:boldItalic r:id="rId20"/>
    </p:embeddedFont>
    <p:embeddedFont>
      <p:font typeface="Century Gothic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ArialNarrow-boldItalic.fntdata"/><Relationship Id="rId11" Type="http://schemas.openxmlformats.org/officeDocument/2006/relationships/slide" Target="slides/slide6.xml"/><Relationship Id="rId22" Type="http://schemas.openxmlformats.org/officeDocument/2006/relationships/font" Target="fonts/CenturyGothic-bold.fntdata"/><Relationship Id="rId10" Type="http://schemas.openxmlformats.org/officeDocument/2006/relationships/slide" Target="slides/slide5.xml"/><Relationship Id="rId21" Type="http://schemas.openxmlformats.org/officeDocument/2006/relationships/font" Target="fonts/CenturyGothic-regular.fntdata"/><Relationship Id="rId13" Type="http://schemas.openxmlformats.org/officeDocument/2006/relationships/slide" Target="slides/slide8.xml"/><Relationship Id="rId24" Type="http://schemas.openxmlformats.org/officeDocument/2006/relationships/font" Target="fonts/CenturyGothic-boldItalic.fntdata"/><Relationship Id="rId12" Type="http://schemas.openxmlformats.org/officeDocument/2006/relationships/slide" Target="slides/slide7.xml"/><Relationship Id="rId23" Type="http://schemas.openxmlformats.org/officeDocument/2006/relationships/font" Target="fonts/CenturyGothic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ArialNarrow-regular.fntdata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ArialNarrow-italic.fntdata"/><Relationship Id="rId6" Type="http://schemas.openxmlformats.org/officeDocument/2006/relationships/slide" Target="slides/slide1.xml"/><Relationship Id="rId18" Type="http://schemas.openxmlformats.org/officeDocument/2006/relationships/font" Target="fonts/ArialNarrow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" name="Google Shape;5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10a4cd88d6f_0_5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" name="Google Shape;59;g10a4cd88d6f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" name="Google Shape;7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-US"/>
              <a:t>https://scikit-learn.org/stable/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" name="Google Shape;9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6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7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8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9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1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11a3cd0d61f_0_22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2" name="Google Shape;152;g11a3cd0d61f_0_2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_1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‹#›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‹#›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" type="obj">
  <p:cSld name="OBJECT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6" name="Google Shape;16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7" name="Google Shape;17;p4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8" name="Google Shape;18;p4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/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/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/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/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/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/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/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/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2" name="Google Shape;22;p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‹#›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" name="Google Shape;25;p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‹#›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‹#›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‹#›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‹#›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‹#›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‹#›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8" name="Google Shape;8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8127425" y="119987"/>
            <a:ext cx="851525" cy="331425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9;p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‹#›</a:t>
            </a:fld>
            <a:r>
              <a:rPr lang="en-US"/>
              <a:t>]</a:t>
            </a:r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jpg"/><Relationship Id="rId4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3.jpg"/><Relationship Id="rId4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2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2"/>
          <p:cNvSpPr txBox="1"/>
          <p:nvPr/>
        </p:nvSpPr>
        <p:spPr>
          <a:xfrm>
            <a:off x="565525" y="3011225"/>
            <a:ext cx="6761700" cy="193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400" u="none" cap="none" strike="noStrik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Prof. Dr. Diego Bruno</a:t>
            </a:r>
            <a:endParaRPr b="0" i="0" sz="1600" u="none" cap="none" strike="noStrik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Education Tech Lead na DIO</a:t>
            </a:r>
            <a:br>
              <a:rPr b="0" i="0" lang="en-US" sz="1600" u="none" cap="none" strike="noStrik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600" u="none" cap="none" strike="noStrik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Doutor em Robótica e </a:t>
            </a:r>
            <a:r>
              <a:rPr b="0" i="1" lang="en-US" sz="1600" u="none" cap="none" strike="noStrik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Machine Learning </a:t>
            </a:r>
            <a:r>
              <a:rPr b="0" i="0" lang="en-US" sz="1600" u="none" cap="none" strike="noStrik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pelo ICMC-USP</a:t>
            </a:r>
            <a:endParaRPr b="0" i="0" sz="1600" u="none" cap="none" strike="noStrik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12"/>
          <p:cNvSpPr txBox="1"/>
          <p:nvPr/>
        </p:nvSpPr>
        <p:spPr>
          <a:xfrm>
            <a:off x="565525" y="636550"/>
            <a:ext cx="8501100" cy="193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4000" u="none" cap="none" strike="noStrike">
                <a:solidFill>
                  <a:srgbClr val="FF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Python para  </a:t>
            </a:r>
            <a:r>
              <a:rPr b="1" i="1" lang="en-US" sz="4000" u="none" cap="none" strike="noStrike">
                <a:solidFill>
                  <a:srgbClr val="FF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Machine Learning</a:t>
            </a:r>
            <a:endParaRPr b="1" i="1" sz="4000" u="none" cap="none" strike="noStrike">
              <a:solidFill>
                <a:srgbClr val="FF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‹#›</a:t>
            </a:fld>
            <a:r>
              <a:rPr lang="en-US"/>
              <a:t>]</a:t>
            </a:r>
            <a:endParaRPr/>
          </a:p>
        </p:txBody>
      </p:sp>
      <p:pic>
        <p:nvPicPr>
          <p:cNvPr descr="Código binário | Ícone Gratis" id="55" name="Google Shape;55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72454" y="3383280"/>
            <a:ext cx="1627505" cy="162750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reinamento Programação em Python para analistas de redes" id="56" name="Google Shape;56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4924" y="1584961"/>
            <a:ext cx="2301240" cy="23012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7282C"/>
        </a:solid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3"/>
          <p:cNvSpPr txBox="1"/>
          <p:nvPr/>
        </p:nvSpPr>
        <p:spPr>
          <a:xfrm>
            <a:off x="1162075" y="2500600"/>
            <a:ext cx="4442700" cy="9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1" marL="76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2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Prof. Dr. Diego Bruno</a:t>
            </a:r>
            <a:endParaRPr b="0" i="0" sz="2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13"/>
          <p:cNvSpPr txBox="1"/>
          <p:nvPr/>
        </p:nvSpPr>
        <p:spPr>
          <a:xfrm>
            <a:off x="1162075" y="1317000"/>
            <a:ext cx="6575100" cy="9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5500" u="none" cap="none" strike="noStrik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Vamos começar a programar…</a:t>
            </a:r>
            <a:endParaRPr b="0" i="0" sz="5500" u="none" cap="none" strike="noStrik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63" name="Google Shape;63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27426" y="120127"/>
            <a:ext cx="851525" cy="331432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1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>
                <a:solidFill>
                  <a:srgbClr val="EA4E60"/>
                </a:solidFill>
              </a:rPr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‹#›</a:t>
            </a:fld>
            <a:r>
              <a:rPr lang="en-US">
                <a:solidFill>
                  <a:srgbClr val="EA4E60"/>
                </a:solidFill>
              </a:rPr>
              <a:t>]</a:t>
            </a:r>
            <a:endParaRPr>
              <a:solidFill>
                <a:srgbClr val="EA4E60"/>
              </a:solidFill>
            </a:endParaRPr>
          </a:p>
        </p:txBody>
      </p:sp>
      <p:sp>
        <p:nvSpPr>
          <p:cNvPr id="65" name="Google Shape;65;p13"/>
          <p:cNvSpPr txBox="1"/>
          <p:nvPr/>
        </p:nvSpPr>
        <p:spPr>
          <a:xfrm>
            <a:off x="-236220" y="3132700"/>
            <a:ext cx="3997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1" lang="en-US" sz="18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                       Machine Learning</a:t>
            </a:r>
            <a:endParaRPr b="1" i="1" sz="1800" u="none" cap="none" strike="noStrik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Treinamento Programação em Python para analistas de redes" id="66" name="Google Shape;66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12484" y="1866901"/>
            <a:ext cx="2301240" cy="23012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‹#›</a:t>
            </a:fld>
            <a:r>
              <a:rPr lang="en-US"/>
              <a:t>]</a:t>
            </a:r>
            <a:endParaRPr/>
          </a:p>
        </p:txBody>
      </p:sp>
      <p:pic>
        <p:nvPicPr>
          <p:cNvPr descr="Machine Learning With Python (Learning Path) – Real Python" id="72" name="Google Shape;7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1"/>
            <a:ext cx="9144000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reinamento Programação em Python para analistas de redes" id="73" name="Google Shape;73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108324" y="0"/>
            <a:ext cx="1181099" cy="1181099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4"/>
          <p:cNvSpPr/>
          <p:nvPr/>
        </p:nvSpPr>
        <p:spPr>
          <a:xfrm>
            <a:off x="4236720" y="350520"/>
            <a:ext cx="2270760" cy="457200"/>
          </a:xfrm>
          <a:prstGeom prst="rect">
            <a:avLst/>
          </a:prstGeom>
          <a:solidFill>
            <a:srgbClr val="0C5ADB"/>
          </a:solidFill>
          <a:ln cap="flat" cmpd="sng" w="25400">
            <a:solidFill>
              <a:srgbClr val="306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Python</a:t>
            </a:r>
            <a:endParaRPr b="1" i="0" sz="3600" u="none" cap="none" strike="noStrike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5"/>
          <p:cNvSpPr txBox="1"/>
          <p:nvPr>
            <p:ph type="title"/>
          </p:nvPr>
        </p:nvSpPr>
        <p:spPr>
          <a:xfrm>
            <a:off x="213179" y="349534"/>
            <a:ext cx="7872410" cy="54903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br>
              <a:rPr lang="en-US" sz="2500">
                <a:latin typeface="Arial Narrow"/>
                <a:ea typeface="Arial Narrow"/>
                <a:cs typeface="Arial Narrow"/>
                <a:sym typeface="Arial Narrow"/>
              </a:rPr>
            </a:br>
            <a:r>
              <a:rPr lang="en-US" sz="2500">
                <a:latin typeface="Arial Narrow"/>
                <a:ea typeface="Arial Narrow"/>
                <a:cs typeface="Arial Narrow"/>
                <a:sym typeface="Arial Narrow"/>
              </a:rPr>
              <a:t> </a:t>
            </a:r>
            <a:br>
              <a:rPr lang="en-US" sz="2500">
                <a:latin typeface="Arial Narrow"/>
                <a:ea typeface="Arial Narrow"/>
                <a:cs typeface="Arial Narrow"/>
                <a:sym typeface="Arial Narrow"/>
              </a:rPr>
            </a:br>
            <a:r>
              <a:rPr b="1" lang="en-US" sz="2500">
                <a:latin typeface="Arial Narrow"/>
                <a:ea typeface="Arial Narrow"/>
                <a:cs typeface="Arial Narrow"/>
                <a:sym typeface="Arial Narrow"/>
              </a:rPr>
              <a:t>1. </a:t>
            </a:r>
            <a:r>
              <a:rPr lang="en-US" sz="2200">
                <a:latin typeface="Arial Narrow"/>
                <a:ea typeface="Arial Narrow"/>
                <a:cs typeface="Arial Narrow"/>
                <a:sym typeface="Arial Narrow"/>
              </a:rPr>
              <a:t>Programação básica;</a:t>
            </a:r>
            <a:br>
              <a:rPr lang="en-US" sz="2200">
                <a:latin typeface="Arial Narrow"/>
                <a:ea typeface="Arial Narrow"/>
                <a:cs typeface="Arial Narrow"/>
                <a:sym typeface="Arial Narrow"/>
              </a:rPr>
            </a:br>
            <a:r>
              <a:rPr b="1" lang="en-US" sz="2200">
                <a:latin typeface="Arial Narrow"/>
                <a:ea typeface="Arial Narrow"/>
                <a:cs typeface="Arial Narrow"/>
                <a:sym typeface="Arial Narrow"/>
              </a:rPr>
              <a:t>2. </a:t>
            </a:r>
            <a:r>
              <a:rPr lang="en-US" sz="2200">
                <a:latin typeface="Arial Narrow"/>
                <a:ea typeface="Arial Narrow"/>
                <a:cs typeface="Arial Narrow"/>
                <a:sym typeface="Arial Narrow"/>
              </a:rPr>
              <a:t>Instalação de dependências;</a:t>
            </a:r>
            <a:br>
              <a:rPr lang="en-US" sz="2200">
                <a:latin typeface="Arial Narrow"/>
                <a:ea typeface="Arial Narrow"/>
                <a:cs typeface="Arial Narrow"/>
                <a:sym typeface="Arial Narrow"/>
              </a:rPr>
            </a:br>
            <a:r>
              <a:rPr b="1" lang="en-US" sz="2200">
                <a:latin typeface="Arial Narrow"/>
                <a:ea typeface="Arial Narrow"/>
                <a:cs typeface="Arial Narrow"/>
                <a:sym typeface="Arial Narrow"/>
              </a:rPr>
              <a:t>3. </a:t>
            </a:r>
            <a:r>
              <a:rPr lang="en-US" sz="2200">
                <a:latin typeface="Arial Narrow"/>
                <a:ea typeface="Arial Narrow"/>
                <a:cs typeface="Arial Narrow"/>
                <a:sym typeface="Arial Narrow"/>
              </a:rPr>
              <a:t>Bibliotecas de ML;</a:t>
            </a:r>
            <a:br>
              <a:rPr lang="en-US" sz="2200">
                <a:latin typeface="Arial Narrow"/>
                <a:ea typeface="Arial Narrow"/>
                <a:cs typeface="Arial Narrow"/>
                <a:sym typeface="Arial Narrow"/>
              </a:rPr>
            </a:br>
            <a:r>
              <a:rPr b="1" lang="en-US" sz="2200">
                <a:latin typeface="Arial Narrow"/>
                <a:ea typeface="Arial Narrow"/>
                <a:cs typeface="Arial Narrow"/>
                <a:sym typeface="Arial Narrow"/>
              </a:rPr>
              <a:t>4. </a:t>
            </a:r>
            <a:r>
              <a:rPr lang="en-US" sz="2200">
                <a:latin typeface="Arial Narrow"/>
                <a:ea typeface="Arial Narrow"/>
                <a:cs typeface="Arial Narrow"/>
                <a:sym typeface="Arial Narrow"/>
              </a:rPr>
              <a:t>Ambientes de colaboração de código;</a:t>
            </a:r>
            <a:br>
              <a:rPr lang="en-US" sz="2200">
                <a:latin typeface="Arial Narrow"/>
                <a:ea typeface="Arial Narrow"/>
                <a:cs typeface="Arial Narrow"/>
                <a:sym typeface="Arial Narrow"/>
              </a:rPr>
            </a:br>
            <a:r>
              <a:rPr b="1" lang="en-US" sz="2200">
                <a:latin typeface="Arial Narrow"/>
                <a:ea typeface="Arial Narrow"/>
                <a:cs typeface="Arial Narrow"/>
                <a:sym typeface="Arial Narrow"/>
              </a:rPr>
              <a:t>5. </a:t>
            </a:r>
            <a:r>
              <a:rPr lang="en-US" sz="2200">
                <a:latin typeface="Arial Narrow"/>
                <a:ea typeface="Arial Narrow"/>
                <a:cs typeface="Arial Narrow"/>
                <a:sym typeface="Arial Narrow"/>
              </a:rPr>
              <a:t>Configuração de GPU em CUDA. </a:t>
            </a:r>
            <a:br>
              <a:rPr lang="en-US" sz="2300">
                <a:latin typeface="Arial Narrow"/>
                <a:ea typeface="Arial Narrow"/>
                <a:cs typeface="Arial Narrow"/>
                <a:sym typeface="Arial Narrow"/>
              </a:rPr>
            </a:br>
            <a:br>
              <a:rPr lang="en-US" sz="2300">
                <a:latin typeface="Arial Narrow"/>
                <a:ea typeface="Arial Narrow"/>
                <a:cs typeface="Arial Narrow"/>
                <a:sym typeface="Arial Narrow"/>
              </a:rPr>
            </a:br>
            <a:br>
              <a:rPr lang="en-US" sz="2500">
                <a:latin typeface="Arial Narrow"/>
                <a:ea typeface="Arial Narrow"/>
                <a:cs typeface="Arial Narrow"/>
                <a:sym typeface="Arial Narrow"/>
              </a:rPr>
            </a:br>
            <a:r>
              <a:rPr lang="en-US" sz="2500">
                <a:latin typeface="Arial Narrow"/>
                <a:ea typeface="Arial Narrow"/>
                <a:cs typeface="Arial Narrow"/>
                <a:sym typeface="Arial Narrow"/>
              </a:rPr>
              <a:t>  </a:t>
            </a:r>
            <a:endParaRPr sz="2500">
              <a:solidFill>
                <a:srgbClr val="FF0000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80" name="Google Shape;80;p1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descr="Resultado de imagem para secomp ufscar logo png" id="81" name="Google Shape;81;p15"/>
          <p:cNvSpPr/>
          <p:nvPr/>
        </p:nvSpPr>
        <p:spPr>
          <a:xfrm>
            <a:off x="155575" y="-108347"/>
            <a:ext cx="304800" cy="2286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Resultado de imagem para secomp ufscar logo png" id="82" name="Google Shape;82;p15"/>
          <p:cNvSpPr/>
          <p:nvPr/>
        </p:nvSpPr>
        <p:spPr>
          <a:xfrm>
            <a:off x="307975" y="5953"/>
            <a:ext cx="304800" cy="2286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Resultado de imagem para robo png" id="83" name="Google Shape;83;p15"/>
          <p:cNvSpPr/>
          <p:nvPr/>
        </p:nvSpPr>
        <p:spPr>
          <a:xfrm>
            <a:off x="460375" y="120253"/>
            <a:ext cx="304800" cy="2286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Resultado de imagem para robo png" id="84" name="Google Shape;84;p15"/>
          <p:cNvSpPr/>
          <p:nvPr/>
        </p:nvSpPr>
        <p:spPr>
          <a:xfrm>
            <a:off x="612775" y="234553"/>
            <a:ext cx="304800" cy="2286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Resultado de imagem para robo png" id="85" name="Google Shape;85;p15"/>
          <p:cNvSpPr/>
          <p:nvPr/>
        </p:nvSpPr>
        <p:spPr>
          <a:xfrm>
            <a:off x="765175" y="348853"/>
            <a:ext cx="304800" cy="2286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blob:https://web.whatsapp.com/2e92c05e-036e-4518-bae6-2898470d3e0f" id="86" name="Google Shape;86;p15"/>
          <p:cNvSpPr/>
          <p:nvPr/>
        </p:nvSpPr>
        <p:spPr>
          <a:xfrm>
            <a:off x="917575" y="463153"/>
            <a:ext cx="304800" cy="2286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5"/>
          <p:cNvSpPr txBox="1"/>
          <p:nvPr/>
        </p:nvSpPr>
        <p:spPr>
          <a:xfrm>
            <a:off x="299950" y="297180"/>
            <a:ext cx="8224009" cy="164574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 básico para Python em ML</a:t>
            </a:r>
            <a:endParaRPr b="1" i="0" sz="3600" u="none" cap="none" strike="noStrik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descr="Treinamento Programação em Python para analistas de redes" id="88" name="Google Shape;88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05700" y="1950721"/>
            <a:ext cx="1386839" cy="138683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Vitor Meriat" id="89" name="Google Shape;89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71171" y="1485582"/>
            <a:ext cx="3158683" cy="24158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dk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16"/>
          <p:cNvSpPr txBox="1"/>
          <p:nvPr/>
        </p:nvSpPr>
        <p:spPr>
          <a:xfrm>
            <a:off x="1162075" y="2348200"/>
            <a:ext cx="4442700" cy="9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1" marL="76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6"/>
          <p:cNvSpPr txBox="1"/>
          <p:nvPr/>
        </p:nvSpPr>
        <p:spPr>
          <a:xfrm>
            <a:off x="312420" y="1317000"/>
            <a:ext cx="7424755" cy="9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5500" u="none" cap="none" strike="noStrike">
                <a:solidFill>
                  <a:schemeClr val="accent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Programação Básica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5500" u="none" cap="none" strike="noStrike">
                <a:solidFill>
                  <a:schemeClr val="accent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com </a:t>
            </a:r>
            <a:r>
              <a:rPr b="1" i="0" lang="en-US" sz="5500" u="none" cap="none" strike="noStrike">
                <a:solidFill>
                  <a:srgbClr val="FF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Python</a:t>
            </a:r>
            <a:endParaRPr b="0" i="0" sz="5500" u="none" cap="none" strike="noStrike">
              <a:solidFill>
                <a:srgbClr val="FF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97" name="Google Shape;97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27426" y="120127"/>
            <a:ext cx="851525" cy="331432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-US"/>
              <a:t>[</a:t>
            </a:r>
            <a:fld id="{00000000-1234-1234-1234-123412341234}" type="slidenum">
              <a:rPr lang="en-US"/>
              <a:t>‹#›</a:t>
            </a:fld>
            <a:r>
              <a:rPr lang="en-US"/>
              <a:t>]</a:t>
            </a:r>
            <a:endParaRPr/>
          </a:p>
        </p:txBody>
      </p:sp>
      <p:pic>
        <p:nvPicPr>
          <p:cNvPr descr="Treinamento Programação em Python para analistas de redes" id="99" name="Google Shape;99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12484" y="1866901"/>
            <a:ext cx="2301240" cy="23012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‹#›</a:t>
            </a:fld>
            <a:r>
              <a:rPr lang="en-US"/>
              <a:t>]</a:t>
            </a:r>
            <a:endParaRPr/>
          </a:p>
        </p:txBody>
      </p:sp>
      <p:pic>
        <p:nvPicPr>
          <p:cNvPr descr="Treinamento Programação em Python para analistas de redes" id="106" name="Google Shape;106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39104" y="0"/>
            <a:ext cx="1181099" cy="1181099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7"/>
          <p:cNvSpPr/>
          <p:nvPr/>
        </p:nvSpPr>
        <p:spPr>
          <a:xfrm>
            <a:off x="6667500" y="350520"/>
            <a:ext cx="2270760" cy="457200"/>
          </a:xfrm>
          <a:prstGeom prst="rect">
            <a:avLst/>
          </a:prstGeom>
          <a:solidFill>
            <a:srgbClr val="0C5ADB"/>
          </a:solidFill>
          <a:ln cap="flat" cmpd="sng" w="25400">
            <a:solidFill>
              <a:srgbClr val="306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Python</a:t>
            </a:r>
            <a:endParaRPr b="1" i="0" sz="3600" u="none" cap="none" strike="noStrike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8"/>
          <p:cNvSpPr txBox="1"/>
          <p:nvPr>
            <p:ph type="title"/>
          </p:nvPr>
        </p:nvSpPr>
        <p:spPr>
          <a:xfrm>
            <a:off x="213179" y="349534"/>
            <a:ext cx="7872410" cy="54903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br>
              <a:rPr lang="en-US" sz="2500">
                <a:latin typeface="Arial Narrow"/>
                <a:ea typeface="Arial Narrow"/>
                <a:cs typeface="Arial Narrow"/>
                <a:sym typeface="Arial Narrow"/>
              </a:rPr>
            </a:br>
            <a:r>
              <a:rPr lang="en-US" sz="2500">
                <a:latin typeface="Arial Narrow"/>
                <a:ea typeface="Arial Narrow"/>
                <a:cs typeface="Arial Narrow"/>
                <a:sym typeface="Arial Narrow"/>
              </a:rPr>
              <a:t> </a:t>
            </a:r>
            <a:br>
              <a:rPr lang="en-US" sz="2500">
                <a:latin typeface="Arial Narrow"/>
                <a:ea typeface="Arial Narrow"/>
                <a:cs typeface="Arial Narrow"/>
                <a:sym typeface="Arial Narrow"/>
              </a:rPr>
            </a:br>
            <a:br>
              <a:rPr lang="en-US" sz="2300">
                <a:latin typeface="Arial Narrow"/>
                <a:ea typeface="Arial Narrow"/>
                <a:cs typeface="Arial Narrow"/>
                <a:sym typeface="Arial Narrow"/>
              </a:rPr>
            </a:br>
            <a:br>
              <a:rPr lang="en-US" sz="2500">
                <a:latin typeface="Arial Narrow"/>
                <a:ea typeface="Arial Narrow"/>
                <a:cs typeface="Arial Narrow"/>
                <a:sym typeface="Arial Narrow"/>
              </a:rPr>
            </a:br>
            <a:r>
              <a:rPr lang="en-US" sz="2500">
                <a:latin typeface="Arial Narrow"/>
                <a:ea typeface="Arial Narrow"/>
                <a:cs typeface="Arial Narrow"/>
                <a:sym typeface="Arial Narrow"/>
              </a:rPr>
              <a:t>  </a:t>
            </a:r>
            <a:endParaRPr sz="2500">
              <a:solidFill>
                <a:srgbClr val="FF0000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13" name="Google Shape;113;p1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descr="Resultado de imagem para secomp ufscar logo png" id="114" name="Google Shape;114;p18"/>
          <p:cNvSpPr/>
          <p:nvPr/>
        </p:nvSpPr>
        <p:spPr>
          <a:xfrm>
            <a:off x="155575" y="-108347"/>
            <a:ext cx="304800" cy="2286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Resultado de imagem para secomp ufscar logo png" id="115" name="Google Shape;115;p18"/>
          <p:cNvSpPr/>
          <p:nvPr/>
        </p:nvSpPr>
        <p:spPr>
          <a:xfrm>
            <a:off x="307975" y="5953"/>
            <a:ext cx="304800" cy="2286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Resultado de imagem para robo png" id="116" name="Google Shape;116;p18"/>
          <p:cNvSpPr/>
          <p:nvPr/>
        </p:nvSpPr>
        <p:spPr>
          <a:xfrm>
            <a:off x="460375" y="120253"/>
            <a:ext cx="304800" cy="2286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Resultado de imagem para robo png" id="117" name="Google Shape;117;p18"/>
          <p:cNvSpPr/>
          <p:nvPr/>
        </p:nvSpPr>
        <p:spPr>
          <a:xfrm>
            <a:off x="612775" y="234553"/>
            <a:ext cx="304800" cy="2286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Resultado de imagem para robo png" id="118" name="Google Shape;118;p18"/>
          <p:cNvSpPr/>
          <p:nvPr/>
        </p:nvSpPr>
        <p:spPr>
          <a:xfrm>
            <a:off x="765175" y="348853"/>
            <a:ext cx="304800" cy="2286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blob:https://web.whatsapp.com/2e92c05e-036e-4518-bae6-2898470d3e0f" id="119" name="Google Shape;119;p18"/>
          <p:cNvSpPr/>
          <p:nvPr/>
        </p:nvSpPr>
        <p:spPr>
          <a:xfrm>
            <a:off x="917575" y="463153"/>
            <a:ext cx="304800" cy="2286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18"/>
          <p:cNvSpPr txBox="1"/>
          <p:nvPr/>
        </p:nvSpPr>
        <p:spPr>
          <a:xfrm>
            <a:off x="277090" y="289560"/>
            <a:ext cx="8224009" cy="164574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600" u="none" cap="none" strike="noStrik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Nosso primeiro programa...</a:t>
            </a:r>
            <a:endParaRPr b="1" i="0" sz="3600" u="none" cap="none" strike="noStrik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descr="What You Need to Know About Hello World in Python | Udacity" id="121" name="Google Shape;121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074390"/>
            <a:ext cx="7239000" cy="406911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reinamento Programação em Python para analistas de redes" id="122" name="Google Shape;122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91400" y="969646"/>
            <a:ext cx="1386839" cy="13868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</p:txBody>
      </p:sp>
      <p:sp>
        <p:nvSpPr>
          <p:cNvPr id="128" name="Google Shape;128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sp>
        <p:nvSpPr>
          <p:cNvPr id="129" name="Google Shape;129;p1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Welcome to Real Python! – Real Python" id="130" name="Google Shape;130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9"/>
          <p:cNvSpPr/>
          <p:nvPr/>
        </p:nvSpPr>
        <p:spPr>
          <a:xfrm>
            <a:off x="133350" y="123825"/>
            <a:ext cx="5153025" cy="704850"/>
          </a:xfrm>
          <a:prstGeom prst="rect">
            <a:avLst/>
          </a:prstGeom>
          <a:solidFill>
            <a:schemeClr val="dk1"/>
          </a:solidFill>
          <a:ln cap="flat" cmpd="sng" w="25400">
            <a:solidFill>
              <a:srgbClr val="306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Vamos treinar um pouco mais...</a:t>
            </a:r>
            <a:endParaRPr b="0" i="0" sz="2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</p:txBody>
      </p:sp>
      <p:sp>
        <p:nvSpPr>
          <p:cNvPr id="137" name="Google Shape;137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sp>
        <p:nvSpPr>
          <p:cNvPr id="138" name="Google Shape;138;p2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Real Python on Twitter: &quot;🐍📰 Python Statistics Fundamentals: How to  Describe Your Data In this step-by-step tutorial, you'll find out how to  describe, summarize, and represent your data visually using NumPy, SciPy," id="139" name="Google Shape;139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1"/>
            <a:ext cx="9144000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20"/>
          <p:cNvSpPr/>
          <p:nvPr/>
        </p:nvSpPr>
        <p:spPr>
          <a:xfrm>
            <a:off x="152400" y="4248150"/>
            <a:ext cx="5153025" cy="704850"/>
          </a:xfrm>
          <a:prstGeom prst="rect">
            <a:avLst/>
          </a:prstGeom>
          <a:solidFill>
            <a:srgbClr val="002060"/>
          </a:solidFill>
          <a:ln cap="flat" cmpd="sng" w="25400">
            <a:solidFill>
              <a:srgbClr val="306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Mas nosso objetivo é muito mais forte...</a:t>
            </a:r>
            <a:endParaRPr b="0" i="0" sz="2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</p:txBody>
      </p:sp>
      <p:sp>
        <p:nvSpPr>
          <p:cNvPr id="146" name="Google Shape;146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sp>
        <p:nvSpPr>
          <p:cNvPr id="147" name="Google Shape;147;p2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Real Python on Twitter: &quot;🐍💻 Python Development in Visual Studio Code In  this tutorial, you'll learn how to use Visual Studio Code for Python  development. By following examples, you'll cover everything from" id="148" name="Google Shape;148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" y="0"/>
            <a:ext cx="9143999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21"/>
          <p:cNvSpPr/>
          <p:nvPr/>
        </p:nvSpPr>
        <p:spPr>
          <a:xfrm>
            <a:off x="1" y="0"/>
            <a:ext cx="3829050" cy="552450"/>
          </a:xfrm>
          <a:prstGeom prst="rect">
            <a:avLst/>
          </a:prstGeom>
          <a:solidFill>
            <a:srgbClr val="002060"/>
          </a:solidFill>
          <a:ln cap="flat" cmpd="sng" w="25400">
            <a:solidFill>
              <a:srgbClr val="306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Dependências </a:t>
            </a:r>
            <a:endParaRPr b="0" i="0" sz="2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7282C"/>
        </a:solid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2"/>
          <p:cNvSpPr txBox="1"/>
          <p:nvPr/>
        </p:nvSpPr>
        <p:spPr>
          <a:xfrm>
            <a:off x="1162075" y="2348200"/>
            <a:ext cx="4442700" cy="9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1" marL="76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2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Prof. Dr. Diego Bruno</a:t>
            </a:r>
            <a:endParaRPr b="0" i="0" sz="2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22"/>
          <p:cNvSpPr txBox="1"/>
          <p:nvPr/>
        </p:nvSpPr>
        <p:spPr>
          <a:xfrm>
            <a:off x="1162075" y="1317000"/>
            <a:ext cx="6575100" cy="9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5500" u="none" cap="none" strike="noStrik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Obrigado!</a:t>
            </a:r>
            <a:endParaRPr b="0" i="0" sz="5500" u="none" cap="none" strike="noStrik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56" name="Google Shape;156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27426" y="120127"/>
            <a:ext cx="851525" cy="331432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2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>
                <a:solidFill>
                  <a:srgbClr val="EA4E60"/>
                </a:solidFill>
              </a:rPr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‹#›</a:t>
            </a:fld>
            <a:r>
              <a:rPr lang="en-US">
                <a:solidFill>
                  <a:srgbClr val="EA4E60"/>
                </a:solidFill>
              </a:rPr>
              <a:t>]</a:t>
            </a:r>
            <a:endParaRPr>
              <a:solidFill>
                <a:srgbClr val="EA4E60"/>
              </a:solidFill>
            </a:endParaRPr>
          </a:p>
        </p:txBody>
      </p:sp>
      <p:sp>
        <p:nvSpPr>
          <p:cNvPr id="158" name="Google Shape;158;p22"/>
          <p:cNvSpPr txBox="1"/>
          <p:nvPr/>
        </p:nvSpPr>
        <p:spPr>
          <a:xfrm>
            <a:off x="-272555" y="2104000"/>
            <a:ext cx="3997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1" lang="en-US" sz="18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                        Machine Learning</a:t>
            </a:r>
            <a:endParaRPr b="1" i="1" sz="1800" u="none" cap="none" strike="noStrik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Treinamento Programação em Python para analistas de redes" id="159" name="Google Shape;159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12484" y="1866901"/>
            <a:ext cx="2301240" cy="23012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